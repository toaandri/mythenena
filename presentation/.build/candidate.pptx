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094456b1bd44ab" /><Relationship Type="http://schemas.openxmlformats.org/officeDocument/2006/relationships/extended-properties" Target="/docProps/app.xml" Id="R1a817260a1774c0e" /><Relationship Type="http://schemas.openxmlformats.org/officeDocument/2006/relationships/officeDocument" Target="/ppt/presentation.xml" Id="Rda592a13d2094590" /></Relationships>
</file>

<file path=ppt/presentation.xml><?xml version="1.0" encoding="utf-8"?>
<p:presentation xmlns:p="http://schemas.openxmlformats.org/presentationml/2006/main">
  <p:sldMasterIdLst>
    <p:sldMasterId xmlns:r="http://schemas.openxmlformats.org/officeDocument/2006/relationships" id="2147483648" r:id="Refde3471b72c45dc"/>
  </p:sldMasterIdLst>
  <p:notesMasterIdLst>
    <p:notesMasterId xmlns:r="http://schemas.openxmlformats.org/officeDocument/2006/relationships" r:id="Rff884e5725194b18"/>
  </p:notesMasterIdLst>
  <p:sldIdLst>
    <p:sldId xmlns:r="http://schemas.openxmlformats.org/officeDocument/2006/relationships" id="256" r:id="R3c140242f84e4916"/>
    <p:sldId xmlns:r="http://schemas.openxmlformats.org/officeDocument/2006/relationships" id="257" r:id="Rc3375fb7119d48bb"/>
    <p:sldId xmlns:r="http://schemas.openxmlformats.org/officeDocument/2006/relationships" id="258" r:id="R319164d9cdc84b29"/>
    <p:sldId xmlns:r="http://schemas.openxmlformats.org/officeDocument/2006/relationships" id="259" r:id="R47134a507e7446a0"/>
    <p:sldId xmlns:r="http://schemas.openxmlformats.org/officeDocument/2006/relationships" id="260" r:id="R606ef2ab782e4f29"/>
    <p:sldId xmlns:r="http://schemas.openxmlformats.org/officeDocument/2006/relationships" id="261" r:id="R60e43384fdb5481a"/>
    <p:sldId xmlns:r="http://schemas.openxmlformats.org/officeDocument/2006/relationships" id="262" r:id="Rf11675b4a4eb45d8"/>
    <p:sldId xmlns:r="http://schemas.openxmlformats.org/officeDocument/2006/relationships" id="263" r:id="R2bf7e6aff7c54af0"/>
    <p:sldId xmlns:r="http://schemas.openxmlformats.org/officeDocument/2006/relationships" id="264" r:id="R947efe93b17b446e"/>
    <p:sldId xmlns:r="http://schemas.openxmlformats.org/officeDocument/2006/relationships" id="265" r:id="Rfc418465c4204a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ed76779e2e4300" /><Relationship Type="http://schemas.openxmlformats.org/officeDocument/2006/relationships/slideMaster" Target="/ppt/slideMasters/slideMaster1.xml" Id="Refde3471b72c45dc" /><Relationship Type="http://schemas.openxmlformats.org/officeDocument/2006/relationships/notesMaster" Target="/ppt/notesMasters/notesMaster1.xml" Id="Rff884e5725194b18" /><Relationship Type="http://schemas.openxmlformats.org/officeDocument/2006/relationships/presProps" Target="/ppt/presProps.xml" Id="R48e006b24a184232" /><Relationship Type="http://schemas.openxmlformats.org/officeDocument/2006/relationships/tableStyles" Target="/ppt/tableStyles.xml" Id="R12e5e2e710004ee5" /><Relationship Type="http://schemas.openxmlformats.org/officeDocument/2006/relationships/slide" Target="/ppt/slides/slide1.xml" Id="R3c140242f84e4916" /><Relationship Type="http://schemas.openxmlformats.org/officeDocument/2006/relationships/slide" Target="/ppt/slides/slide2.xml" Id="Rc3375fb7119d48bb" /><Relationship Type="http://schemas.openxmlformats.org/officeDocument/2006/relationships/slide" Target="/ppt/slides/slide3.xml" Id="R319164d9cdc84b29" /><Relationship Type="http://schemas.openxmlformats.org/officeDocument/2006/relationships/slide" Target="/ppt/slides/slide4.xml" Id="R47134a507e7446a0" /><Relationship Type="http://schemas.openxmlformats.org/officeDocument/2006/relationships/slide" Target="/ppt/slides/slide5.xml" Id="R606ef2ab782e4f29" /><Relationship Type="http://schemas.openxmlformats.org/officeDocument/2006/relationships/slide" Target="/ppt/slides/slide6.xml" Id="R60e43384fdb5481a" /><Relationship Type="http://schemas.openxmlformats.org/officeDocument/2006/relationships/slide" Target="/ppt/slides/slide7.xml" Id="Rf11675b4a4eb45d8" /><Relationship Type="http://schemas.openxmlformats.org/officeDocument/2006/relationships/slide" Target="/ppt/slides/slide8.xml" Id="R2bf7e6aff7c54af0" /><Relationship Type="http://schemas.openxmlformats.org/officeDocument/2006/relationships/slide" Target="/ppt/slides/slide9.xml" Id="R947efe93b17b446e" /><Relationship Type="http://schemas.openxmlformats.org/officeDocument/2006/relationships/slide" Target="/ppt/slides/slide10.xml" Id="Rfc418465c4204a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937686a95f47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68b31c02684a8d" /><Relationship Type="http://schemas.openxmlformats.org/officeDocument/2006/relationships/notesMaster" Target="/ppt/notesMasters/notesMaster1.xml" Id="R4289dd8e20c547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8d257001b648c9" /><Relationship Type="http://schemas.openxmlformats.org/officeDocument/2006/relationships/notesMaster" Target="/ppt/notesMasters/notesMaster1.xml" Id="R47fd459fb11444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493577f54e49fa" /><Relationship Type="http://schemas.openxmlformats.org/officeDocument/2006/relationships/notesMaster" Target="/ppt/notesMasters/notesMaster1.xml" Id="Ra8fbad47619842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d3907b868848e6" /><Relationship Type="http://schemas.openxmlformats.org/officeDocument/2006/relationships/notesMaster" Target="/ppt/notesMasters/notesMaster1.xml" Id="R27bb6579973d4b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b6f93284c34f13" /><Relationship Type="http://schemas.openxmlformats.org/officeDocument/2006/relationships/notesMaster" Target="/ppt/notesMasters/notesMaster1.xml" Id="R3ca844c9323946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359ccd45b3499d" /><Relationship Type="http://schemas.openxmlformats.org/officeDocument/2006/relationships/notesMaster" Target="/ppt/notesMasters/notesMaster1.xml" Id="Rdd9af1573c9040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06c9918efc4475" /><Relationship Type="http://schemas.openxmlformats.org/officeDocument/2006/relationships/notesMaster" Target="/ppt/notesMasters/notesMaster1.xml" Id="Rde20f01c08324f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66b70a279645bb" /><Relationship Type="http://schemas.openxmlformats.org/officeDocument/2006/relationships/notesMaster" Target="/ppt/notesMasters/notesMaster1.xml" Id="Re9d83f3277504b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21c1f85b1849b7" /><Relationship Type="http://schemas.openxmlformats.org/officeDocument/2006/relationships/notesMaster" Target="/ppt/notesMasters/notesMaster1.xml" Id="R2b16abe9a7d84f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fd6726c4a64bc2" /><Relationship Type="http://schemas.openxmlformats.org/officeDocument/2006/relationships/notesMaster" Target="/ppt/notesMasters/notesMaster1.xml" Id="Rb81a1eefd24547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00:00–00:45 · 45 secondes</a:t>
            </a:r>
          </a:p>
          <a:p xmlns:a="http://schemas.openxmlformats.org/drawingml/2006/main">
            <a:r>
              <a:t/>
            </a:r>
          </a:p>
          <a:p xmlns:a="http://schemas.openxmlformats.org/drawingml/2006/main">
            <a:r>
              <a:t>Imaginez une personne qui voudrait parler de ce qu’elle ressent, mais qui ne sait pas par où commencer. Mythenena lui propose un premier espace accessible depuis son téléphone : un échange avec une IA, des exercices pour prendre une pause, une communauté et un parcours vers un accompagnant humain. Nous sommes Maharavo, Tonintsoa, Irinah et Noel Pricio. Aujourd’hui, nous allons vous montrer notre prototype, le modèle économique que nous avons choisi et ce qu’il reste à construire. La démonstration est enregistrée dans cette présentation pour que vous puissiez suivre le parcours sans installation ni connexion au projet.</a:t>
            </a:r>
          </a:p>
          <a:p xmlns:a="http://schemas.openxmlformats.org/drawingml/2006/main">
            <a:r>
              <a:t/>
            </a:r>
          </a:p>
          <a:p xmlns:a="http://schemas.openxmlformats.org/drawingml/2006/main">
            <a:r>
              <a:t>Source : prototype Mythenena et modèle économique communiqué par l’équipe. Aucune donnée de traction ou de revenu mesurée.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00:45–02:00 · 1 minute 15</a:t>
            </a:r>
          </a:p>
          <a:p xmlns:a="http://schemas.openxmlformats.org/drawingml/2006/main">
            <a:r>
              <a:t/>
            </a:r>
          </a:p>
          <a:p xmlns:a="http://schemas.openxmlformats.org/drawingml/2006/main">
            <a:r>
              <a:t>Notre point de départ est un besoin d’usage : pouvoir faire un premier geste lorsque l’on ressent du stress, une baisse de moral ou le besoin d’échanger. Aina est un personnage fictif. Nous ne présentons pas son histoire comme un témoignage utilisateur. Elle représente une situation que nous voulons explorer : elle ne souhaite pas forcément prendre un rendez-vous immédiatement. Elle veut d’abord trouver les mots, essayer un exercice ou lire ce que d’autres partagent. L’idée est de proposer plusieurs portes d’entrée, sans imposer le même parcours à tout le monde. À ce stade, nous ne prétendons pas avoir validé un marché ni démontré un effet clinique. Un pilote devra vérifier si cette proposition répond réellement aux attentes, quels parcours les personnes choisissent et à quel moment elles souhaitent un accompagnement humain.</a:t>
            </a:r>
          </a:p>
          <a:p xmlns:a="http://schemas.openxmlformats.org/drawingml/2006/main">
            <a:r>
              <a:t/>
            </a:r>
          </a:p>
          <a:p xmlns:a="http://schemas.openxmlformats.org/drawingml/2006/main">
            <a:r>
              <a:t>Source : prototype Mythenena et modèle économique communiqué par l’équipe. Aucune donnée de traction ou de revenu mesurée.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02:00–03:00 · 1 minute</a:t>
            </a:r>
          </a:p>
          <a:p xmlns:a="http://schemas.openxmlformats.org/drawingml/2006/main">
            <a:r>
              <a:t/>
            </a:r>
          </a:p>
          <a:p xmlns:a="http://schemas.openxmlformats.org/drawingml/2006/main">
            <a:r>
              <a:t>Le parcours commence par cinq questions à choix multiples. Elles sont facultatives : une personne peut passer une question ou tout le questionnaire. Dans ce prototype, les réponses restent sur l’appareil et ne sont pas envoyées à l’IA. Ensuite, l’accueil donne accès aux espaces principaux. L’IA ouvre une conversation. Les ressources proposent cinq exercices. Le forum permet de partager sous pseudonyme. L’annuaire présente des accompagnants et permet d’enregistrer une demande de contact. L’interface propose le français, l’anglais et le malagasy. Nous allons maintenant suivre Aina. Les écrans que vous voyez sont ceux du prototype. Pour rendre le parcours reproductible et préserver les données, les échanges et les profils utilisés dans la vidéo sont des exemples fictifs.</a:t>
            </a:r>
          </a:p>
          <a:p xmlns:a="http://schemas.openxmlformats.org/drawingml/2006/main">
            <a:r>
              <a:t/>
            </a:r>
          </a:p>
          <a:p xmlns:a="http://schemas.openxmlformats.org/drawingml/2006/main">
            <a:r>
              <a:t>Source : prototype Mythenena et modèle économique communiqué par l’équipe. Aucune donnée de traction ou de revenu mesurée.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03:00–04:10 · 1 minute 10</a:t>
            </a:r>
          </a:p>
          <a:p xmlns:a="http://schemas.openxmlformats.org/drawingml/2006/main">
            <a:r>
              <a:t/>
            </a:r>
          </a:p>
          <a:p xmlns:a="http://schemas.openxmlformats.org/drawingml/2006/main">
            <a:r>
              <a:t>Aina arrive dans l’application. Elle peut répondre au questionnaire, mais elle garde la liberté de passer. Cette liberté évite de transformer l’entrée dans l’application en une longue formalité. Elle découvre ensuite l’accueil, puis rejoint l’assistant IA. Elle écrit une phrase simple sur son état du moment. La sphère accompagne visuellement les états de la conversation. La réponse montrée ici est un exemple préparé pour la démonstration, pas une réponse clinique validée. Le prototype dispose aussi d’un parcours vocal. Nous montrons ici l’écrit, afin que la démonstration ne dépende ni d’un microphone ni du son de l’ordinateur du jury. L’objectif est de permettre un premier échange, à son rythme.</a:t>
            </a:r>
          </a:p>
          <a:p xmlns:a="http://schemas.openxmlformats.org/drawingml/2006/main">
            <a:r>
              <a:t/>
            </a:r>
          </a:p>
          <a:p xmlns:a="http://schemas.openxmlformats.org/drawingml/2006/main">
            <a:r>
              <a:t>Source : prototype Mythenena et modèle économique communiqué par l’équipe. Aucune donnée de traction ou de revenu mesurée.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04:10–05:20 · 1 minute 10</a:t>
            </a:r>
          </a:p>
          <a:p xmlns:a="http://schemas.openxmlformats.org/drawingml/2006/main">
            <a:r>
              <a:t/>
            </a:r>
          </a:p>
          <a:p xmlns:a="http://schemas.openxmlformats.org/drawingml/2006/main">
            <a:r>
              <a:t>Aina choisit maintenant de faire une pause. Elle ouvre les ressources et lance une respiration guidée. La sphère se dilate et se relâche pour donner un rythme visuel doux. Elle peut choisir une durée, mettre en pause ou quitter l’exercice. Les autres ressources proposent un ancrage par les cinq sens, un moment de gratitude, un relâchement corporel et l’observation des pensées. Nous montrons ensuite le nuage qui se déplace : il matérialise le passage d’une pensée. Ces exercices ont leur place dans le quotidien, sans promettre une guérison. Dans notre offre prévue, le mode hors ligne donnera uniquement accès aux exercices. Le téléchargement et la disponibilité hors ligne complète restent à finaliser et à vérifier sur les appareils ciblés.</a:t>
            </a:r>
          </a:p>
          <a:p xmlns:a="http://schemas.openxmlformats.org/drawingml/2006/main">
            <a:r>
              <a:t/>
            </a:r>
          </a:p>
          <a:p xmlns:a="http://schemas.openxmlformats.org/drawingml/2006/main">
            <a:r>
              <a:t>Source : prototype Mythenena et modèle économique communiqué par l’équipe. Aucune donnée de traction ou de revenu mesurée.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05:20–06:30 · 1 minute 10</a:t>
            </a:r>
          </a:p>
          <a:p xmlns:a="http://schemas.openxmlformats.org/drawingml/2006/main">
            <a:r>
              <a:t/>
            </a:r>
          </a:p>
          <a:p xmlns:a="http://schemas.openxmlformats.org/drawingml/2006/main">
            <a:r>
              <a:t>Aina peut aussi rejoindre le forum. Les thèmes aident à retrouver une discussion, le pseudonyme permet de choisir la façon de se présenter, et les publications peuvent recevoir du soutien et des réponses. Le signalement est relié au service du forum. Elle consulte ensuite le profil d’un accompagnant, ses langues et ses spécialités, puis prépare une demande de contact. Le profil montré est fictif et aucun message réel n’est envoyé dans cette démonstration. Il faut distinguer cette demande de contact, qui existe dans le prototype, des appels directs aux psychologues, qui font partie de notre prochaine étape. La messagerie actuelle reste également une démonstration locale. Nous voulons construire le relais humain avec des professionnels, sans laisser croire que l’IA les remplace.</a:t>
            </a:r>
          </a:p>
          <a:p xmlns:a="http://schemas.openxmlformats.org/drawingml/2006/main">
            <a:r>
              <a:t/>
            </a:r>
          </a:p>
          <a:p xmlns:a="http://schemas.openxmlformats.org/drawingml/2006/main">
            <a:r>
              <a:t>Source : prototype Mythenena et modèle économique communiqué par l’équipe. Aucune donnée de traction ou de revenu mesurée.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06:30–08:30 · 2 minutes</a:t>
            </a:r>
          </a:p>
          <a:p xmlns:a="http://schemas.openxmlformats.org/drawingml/2006/main">
            <a:r>
              <a:t/>
            </a:r>
          </a:p>
          <a:p xmlns:a="http://schemas.openxmlformats.org/drawingml/2006/main">
            <a:r>
              <a:t>Notre modèle repose sur des abonnements, avec une porte d’entrée gratuite. Tous les plans donnent accès à l’IA sans quota annoncé, au forum et aux exercices. Le gratuit comporte un panneau publicitaire en haut de page et ne donne pas accès aux psychologues. Le Premium apporte des crédits pour des appels directs avec des psychologues. Le Premium Plus donne accès à l’ensemble des services avec une priorité de prise en charge. Nous interprétons ici la priorité comme une priorité d’accès ou de réservation, dont les modalités devront être contractualisées avec les professionnels. Elle ne doit pas devenir une promesse de disponibilité immédiate. Les prix et le nombre de crédits ne sont pas encore fixés. Nous devons d’abord connaître le coût des minutes d’appel et la rémunération des psychologues. L’accès total ne signifie pas que nous avons déjà décidé d’offrir un nombre illimité d’heures de consultation. Ce point doit être précisé avant toute commercialisation. Hors ligne, seuls les exercices restent dans l’offre. L’IA, le forum et les appels demandent une connexion. Cette grille décrit le modèle cible, pas des abonnements déjà commercialisés.</a:t>
            </a:r>
          </a:p>
          <a:p xmlns:a="http://schemas.openxmlformats.org/drawingml/2006/main">
            <a:r>
              <a:t/>
            </a:r>
          </a:p>
          <a:p xmlns:a="http://schemas.openxmlformats.org/drawingml/2006/main">
            <a:r>
              <a:t>Source : prototype Mythenena et modèle économique communiqué par l’équipe. Aucune donnée de traction ou de revenu mesurée.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08:30–10:00 · 1 minute 30</a:t>
            </a:r>
          </a:p>
          <a:p xmlns:a="http://schemas.openxmlformats.org/drawingml/2006/main">
            <a:r>
              <a:t/>
            </a:r>
          </a:p>
          <a:p xmlns:a="http://schemas.openxmlformats.org/drawingml/2006/main">
            <a:r>
              <a:t>Le point essentiel pour nous est de faire correspondre les revenus aux coûts du service. Les abonnements et la publicité doivent couvrir l’usage de l’IA, l’hébergement, la modération et surtout le temps des psychologues. Nous n’affichons pas de revenu prévisionnel ou de marge sans avoir ces données. Pendant un pilote, nous voulons mesurer le coût d’IA par utilisateur actif, le nombre de minutes d’appel consommées, le retour des personnes après une première utilisation et leur intérêt pour les offres payantes. L’IA illimitée est notre choix d’offre. Cela nous oblige à sélectionner une infrastructure adaptée, à suivre les coûts et à prévenir les usages automatisés abusifs. Les crédits servent à rendre le coût des échanges humains plus prévisible. Avant de fixer un tarif, nous devons également définir la durée couverte par un crédit et la rémunération du professionnel. Enfin, la publicité devrait rester distincte des conversations personnelles : nous proposons une publicité contextuelle, sans utiliser le contenu intime des échanges pour le ciblage. Ce principe reste à formaliser dans le lancement.</a:t>
            </a:r>
          </a:p>
          <a:p xmlns:a="http://schemas.openxmlformats.org/drawingml/2006/main">
            <a:r>
              <a:t/>
            </a:r>
          </a:p>
          <a:p xmlns:a="http://schemas.openxmlformats.org/drawingml/2006/main">
            <a:r>
              <a:t>Source : prototype Mythenena et modèle économique communiqué par l’équipe. Aucune donnée de traction ou de revenu mesurée.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10:00–12:00 · 2 minutes</a:t>
            </a:r>
          </a:p>
          <a:p xmlns:a="http://schemas.openxmlformats.org/drawingml/2006/main">
            <a:r>
              <a:t/>
            </a:r>
          </a:p>
          <a:p xmlns:a="http://schemas.openxmlformats.org/drawingml/2006/main">
            <a:r>
              <a:t>Nous avons un prototype qui permet de montrer le parcours et de tester plusieurs interactions. Il reste du travail avant un service commercial : les appels avec crédits, les abonnements, la publicité, les règles de priorité et la disponibilité hors ligne complète. Nous devons également organiser la modération humaine, préciser la conservation des données et tester les situations sensibles de l’assistant. Mythenena est un outil de soutien au bien-être. Nous ne présentons pas l’IA comme un psychologue, un outil de diagnostic ou un service d’urgence. Le relais vers les professionnels est une partie essentielle du projet. La prochaine étape que nous proposons est un pilote avec des accompagnants partenaires et un petit groupe d’utilisateurs volontaires. Nous voulons observer où les personnes comprennent le parcours, où elles hésitent et ce qui leur donne envie de revenir. Ensuite, ces retours et les coûts réels permettront de fixer les tarifs et les crédits. Ce que nous recherchons auprès du jury, c’est un retour sur la pertinence du parcours, des mises en relation avec des professionnels et un cadre pour mener ce pilote. Notre ambition est de rendre le premier pas plus accessible et de créer un chemin clair vers l’aide humaine.</a:t>
            </a:r>
          </a:p>
          <a:p xmlns:a="http://schemas.openxmlformats.org/drawingml/2006/main">
            <a:r>
              <a:t/>
            </a:r>
          </a:p>
          <a:p xmlns:a="http://schemas.openxmlformats.org/drawingml/2006/main">
            <a:r>
              <a:t>Source : prototype Mythenena et modèle économique communiqué par l’équipe. Aucune donnée de traction ou de revenu mesurée.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12:00–15:00 · 3 minutes</a:t>
            </a:r>
          </a:p>
          <a:p xmlns:a="http://schemas.openxmlformats.org/drawingml/2006/main">
            <a:r>
              <a:t/>
            </a:r>
          </a:p>
          <a:p xmlns:a="http://schemas.openxmlformats.org/drawingml/2006/main">
            <a:r>
              <a:t>Réponses courtes, puis approfondir si le jury le demande. Prix : ils restent à définir après mesure des coûts et échanges avec les professionnels. Crédits : leur valeur en minutes et leur renouvellement restent à fixer. IA illimitée : engagement d’offre, avec suivi des coûts et prévention des abus, sans vendre un quota caché. Premium Plus : accès total et prioritaire, modalités précises à définir, sans promesse d’heures de consultation illimitées à ce stade. Hors ligne : exercices uniquement dans l’offre prévue, fonctionnement complet encore à finaliser. Confidentialité : les réponses au questionnaire restent sur l’appareil dans le prototype, les autres traitements demandent une politique de conservation et de protection formalisée. Démo : vrais écrans du prototype, profils et échanges fictifs, vidéos embarquées. Validation : pas encore de preuve clinique, de traction ou de revenus annoncés. Publicité : bandeau sur le gratuit, ciblage intime non prévu dans la proposition. Différenciation : un parcours qui relie échange IA, exercices, communauté et accompagnants, avec une interface multilingue.</a:t>
            </a:r>
          </a:p>
          <a:p xmlns:a="http://schemas.openxmlformats.org/drawingml/2006/main">
            <a:r>
              <a:t/>
            </a:r>
          </a:p>
          <a:p xmlns:a="http://schemas.openxmlformats.org/drawingml/2006/main">
            <a:r>
              <a:t>Source : prototype Mythenena et modèle économique communiqué par l’équipe. Aucune donnée de traction ou de revenu mesurée.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c14555636a43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6f29f16ea84cc7" /><Relationship Type="http://schemas.openxmlformats.org/officeDocument/2006/relationships/slideLayout" Target="/ppt/slideLayouts/slideLayout1.xml" Id="R993b3ac9a28741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3b3ac9a28741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5d79fce12a42c7" /><Relationship Type="http://schemas.openxmlformats.org/officeDocument/2006/relationships/notesSlide" Target="/ppt/notesSlides/notesSlide1.xml" Id="Rb214957aedc848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799b85a2c04336" /><Relationship Type="http://schemas.openxmlformats.org/officeDocument/2006/relationships/notesSlide" Target="/ppt/notesSlides/notesSlide2.xml" Id="R3a834c4563f343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6a4f3f4ced43d4" /><Relationship Type="http://schemas.openxmlformats.org/officeDocument/2006/relationships/notesSlide" Target="/ppt/notesSlides/notesSlide3.xml" Id="R6e6759962d8a42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707d3c0b54d4988" /><Relationship Type="http://schemas.openxmlformats.org/officeDocument/2006/relationships/image" Target="/ppt/media/image.png" Id="Rbc5c1745b7804a78" /><Relationship Type="http://schemas.openxmlformats.org/officeDocument/2006/relationships/notesSlide" Target="/ppt/notesSlides/notesSlide4.xml" Id="R87c71197ab0f48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1ebb7f391a4b5b" /><Relationship Type="http://schemas.openxmlformats.org/officeDocument/2006/relationships/image" Target="/ppt/media/image2.png" Id="Rf5ee4dd2101e4a2b" /><Relationship Type="http://schemas.openxmlformats.org/officeDocument/2006/relationships/notesSlide" Target="/ppt/notesSlides/notesSlide5.xml" Id="R7e0219120e0044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7b8efc28803459d" /><Relationship Type="http://schemas.openxmlformats.org/officeDocument/2006/relationships/image" Target="/ppt/media/image3.png" Id="R201c5b943ac6447d" /><Relationship Type="http://schemas.openxmlformats.org/officeDocument/2006/relationships/notesSlide" Target="/ppt/notesSlides/notesSlide6.xml" Id="R22178d2e120148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8ef675eae145a0" /><Relationship Type="http://schemas.openxmlformats.org/officeDocument/2006/relationships/notesSlide" Target="/ppt/notesSlides/notesSlide7.xml" Id="Ra153d1d663b143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3c42668833497e" /><Relationship Type="http://schemas.openxmlformats.org/officeDocument/2006/relationships/notesSlide" Target="/ppt/notesSlides/notesSlide8.xml" Id="Rcb30c4ec83414b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723e42afad74d31" /><Relationship Type="http://schemas.openxmlformats.org/officeDocument/2006/relationships/notesSlide" Target="/ppt/notesSlides/notesSlide9.xml" Id="Rbf77737ea67343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61e379f4f54802" /><Relationship Type="http://schemas.openxmlformats.org/officeDocument/2006/relationships/notesSlide" Target="/ppt/notesSlides/notesSlide10.xml" Id="Re3a343745b5744b3" /></Relationships>
</file>

<file path=ppt/slides/slide1.xml><?xml version="1.0" encoding="utf-8"?>
<p:sld xmlns:p="http://schemas.openxmlformats.org/presentationml/2006/main">
  <p:cSld>
    <p:bg>
      <p:bgPr>
        <a:solidFill xmlns:a="http://schemas.openxmlformats.org/drawingml/2006/main">
          <a:srgbClr val="183E36"/>
        </a:solidFill>
      </p:bgPr>
    </p:bg>
    <p:spTree>
      <p:nvGrpSpPr>
        <p:cNvPr id="1" name=""/>
        <p:cNvGrpSpPr/>
        <p:nvPr/>
      </p:nvGrpSpPr>
      <p:grpSpPr>
        <a:xfrm xmlns:a="http://schemas.openxmlformats.org/drawingml/2006/main"/>
      </p:grpSpPr>
      <p:sp>
        <p:nvSpPr>
          <p:cNvPr id="5" name="01">
            <a:extLst xmlns:a="http://schemas.openxmlformats.org/drawingml/2006/main">
              <a:ext uri="{FF2B5EF4-FFF2-40B4-BE49-F238E27FC236}">
                <a16:creationId xmlns:a16="http://schemas.microsoft.com/office/drawing/2014/main" id="{97713FE9-628F-40DE-B6EC-027050B3F4D7}"/>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B9CDBF"/>
                </a:solidFill>
                <a:latin typeface="Arial"/>
                <a:ea typeface="Arial"/>
                <a:cs typeface="Arial"/>
              </a:defRPr>
            </a:pPr>
            <a:r>
              <a:rPr sz="1275" b="0">
                <a:solidFill>
                  <a:srgbClr val="B9CDBF"/>
                </a:solidFill>
                <a:latin typeface="Arial"/>
                <a:ea typeface="Arial"/>
                <a:cs typeface="Arial"/>
              </a:rPr>
              <a:t>01</a:t>
            </a:r>
          </a:p>
        </p:txBody>
      </p:sp>
      <p:sp>
        <p:nvSpPr>
          <p:cNvPr id="2" name="MYTHENENA">
            <a:extLst xmlns:a="http://schemas.openxmlformats.org/drawingml/2006/main">
              <a:ext uri="{FF2B5EF4-FFF2-40B4-BE49-F238E27FC236}">
                <a16:creationId xmlns:a16="http://schemas.microsoft.com/office/drawing/2014/main" id="{A951F80A-C0F2-40E3-AF8C-3B53F9B824EC}"/>
              </a:ext>
            </a:extLst>
          </p:cNvPr>
          <p:cNvSpPr>
            <a:spLocks xmlns:a="http://schemas.openxmlformats.org/drawingml/2006/main" noGrp="1"/>
          </p:cNvSpPr>
          <p:nvPr/>
        </p:nvSpPr>
        <p:spPr>
          <a:xfrm xmlns:a="http://schemas.openxmlformats.org/drawingml/2006/main">
            <a:off x="704850" y="85725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600" b="1">
                <a:solidFill>
                  <a:srgbClr val="F8F6F0"/>
                </a:solidFill>
                <a:latin typeface="Arial"/>
                <a:ea typeface="Arial"/>
                <a:cs typeface="Arial"/>
              </a:defRPr>
            </a:pPr>
            <a:r>
              <a:rPr sz="6600" b="1">
                <a:solidFill>
                  <a:srgbClr val="F8F6F0"/>
                </a:solidFill>
                <a:latin typeface="Arial"/>
                <a:ea typeface="Arial"/>
                <a:cs typeface="Arial"/>
              </a:rPr>
              <a:t>MYTHENENA</a:t>
            </a:r>
          </a:p>
        </p:txBody>
      </p:sp>
      <p:sp>
        <p:nvSpPr>
          <p:cNvPr id="3" name="Un espace pour parler&#10;et prendre soin de soi">
            <a:extLst xmlns:a="http://schemas.openxmlformats.org/drawingml/2006/main">
              <a:ext uri="{FF2B5EF4-FFF2-40B4-BE49-F238E27FC236}">
                <a16:creationId xmlns:a16="http://schemas.microsoft.com/office/drawing/2014/main" id="{9A19CCF3-68AA-43F4-9793-92DBEC0D0F61}"/>
              </a:ext>
            </a:extLst>
          </p:cNvPr>
          <p:cNvSpPr>
            <a:spLocks xmlns:a="http://schemas.openxmlformats.org/drawingml/2006/main" noGrp="1"/>
          </p:cNvSpPr>
          <p:nvPr/>
        </p:nvSpPr>
        <p:spPr>
          <a:xfrm xmlns:a="http://schemas.openxmlformats.org/drawingml/2006/main">
            <a:off x="742950" y="238125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0">
                <a:solidFill>
                  <a:srgbClr val="F8F6F0"/>
                </a:solidFill>
                <a:latin typeface="Arial"/>
                <a:ea typeface="Arial"/>
                <a:cs typeface="Arial"/>
              </a:defRPr>
            </a:pPr>
            <a:r>
              <a:rPr sz="3600" b="0">
                <a:solidFill>
                  <a:srgbClr val="F8F6F0"/>
                </a:solidFill>
                <a:latin typeface="Arial"/>
                <a:ea typeface="Arial"/>
                <a:cs typeface="Arial"/>
              </a:rPr>
              <a:t>Un espace pour parler</a:t>
            </a:r>
          </a:p>
          <a:p xmlns:a="http://schemas.openxmlformats.org/drawingml/2006/main">
            <a:pPr>
              <a:defRPr sz="3600" b="0">
                <a:solidFill>
                  <a:srgbClr val="F8F6F0"/>
                </a:solidFill>
                <a:latin typeface="Arial"/>
                <a:ea typeface="Arial"/>
                <a:cs typeface="Arial"/>
              </a:defRPr>
            </a:pPr>
            <a:r>
              <a:rPr sz="3600" b="0">
                <a:solidFill>
                  <a:srgbClr val="F8F6F0"/>
                </a:solidFill>
                <a:latin typeface="Arial"/>
                <a:ea typeface="Arial"/>
                <a:cs typeface="Arial"/>
              </a:rPr>
              <a:t>et prendre soin de soi</a:t>
            </a:r>
          </a:p>
        </p:txBody>
      </p:sp>
      <p:sp>
        <p:nvSpPr>
          <p:cNvPr id="4" name="Maharavo, Tonintsoa, Irinah, Noel Pricio">
            <a:extLst xmlns:a="http://schemas.openxmlformats.org/drawingml/2006/main">
              <a:ext uri="{FF2B5EF4-FFF2-40B4-BE49-F238E27FC236}">
                <a16:creationId xmlns:a16="http://schemas.microsoft.com/office/drawing/2014/main" id="{AB5DB28F-EA3E-4172-B67A-82D4F0AA22AF}"/>
              </a:ext>
            </a:extLst>
          </p:cNvPr>
          <p:cNvSpPr>
            <a:spLocks xmlns:a="http://schemas.openxmlformats.org/drawingml/2006/main" noGrp="1"/>
          </p:cNvSpPr>
          <p:nvPr/>
        </p:nvSpPr>
        <p:spPr>
          <a:xfrm xmlns:a="http://schemas.openxmlformats.org/drawingml/2006/main">
            <a:off x="762000" y="55721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C8D8CC"/>
                </a:solidFill>
                <a:latin typeface="Arial"/>
                <a:ea typeface="Arial"/>
                <a:cs typeface="Arial"/>
              </a:defRPr>
            </a:pPr>
            <a:r>
              <a:rPr sz="1875" b="0">
                <a:solidFill>
                  <a:srgbClr val="C8D8CC"/>
                </a:solidFill>
                <a:latin typeface="Arial"/>
                <a:ea typeface="Arial"/>
                <a:cs typeface="Arial"/>
              </a:rPr>
              <a:t>Maharavo, Tonintsoa, Irinah, Noel Pricio</a:t>
            </a:r>
          </a:p>
        </p:txBody>
      </p:sp>
    </p:spTree>
    <p:extLst>
      <p:ext uri="{BB962C8B-B14F-4D97-AF65-F5344CB8AC3E}">
        <p14:creationId xmlns:p14="http://schemas.microsoft.com/office/powerpoint/2010/main" val="602307351"/>
      </p:ext>
    </p:extLst>
  </p:cSld>
</p:sld>
</file>

<file path=ppt/slides/slide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7" name="Le premier pas peut être difficile">
            <a:extLst xmlns:a="http://schemas.openxmlformats.org/drawingml/2006/main">
              <a:ext uri="{FF2B5EF4-FFF2-40B4-BE49-F238E27FC236}">
                <a16:creationId xmlns:a16="http://schemas.microsoft.com/office/drawing/2014/main" id="{C641D4A0-CFF7-47BD-A69E-8B6E24107B0A}"/>
              </a:ext>
            </a:extLst>
          </p:cNvPr>
          <p:cNvSpPr>
            <a:spLocks xmlns:a="http://schemas.openxmlformats.org/drawingml/2006/main" noGrp="1"/>
          </p:cNvSpPr>
          <p:nvPr/>
        </p:nvSpPr>
        <p:spPr>
          <a:xfrm xmlns:a="http://schemas.openxmlformats.org/drawingml/2006/main">
            <a:off x="704850" y="571500"/>
            <a:ext cx="107823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0">
                <a:solidFill>
                  <a:srgbClr val="183E36"/>
                </a:solidFill>
                <a:latin typeface="Arial"/>
                <a:ea typeface="Arial"/>
                <a:cs typeface="Arial"/>
              </a:defRPr>
            </a:pPr>
            <a:r>
              <a:rPr sz="3600" b="0">
                <a:solidFill>
                  <a:srgbClr val="183E36"/>
                </a:solidFill>
                <a:latin typeface="Arial"/>
                <a:ea typeface="Arial"/>
                <a:cs typeface="Arial"/>
              </a:rPr>
              <a:t>Le premier pas peut être difficile</a:t>
            </a:r>
          </a:p>
        </p:txBody>
      </p:sp>
      <p:sp>
        <p:nvSpPr>
          <p:cNvPr id="2" name="02">
            <a:extLst xmlns:a="http://schemas.openxmlformats.org/drawingml/2006/main">
              <a:ext uri="{FF2B5EF4-FFF2-40B4-BE49-F238E27FC236}">
                <a16:creationId xmlns:a16="http://schemas.microsoft.com/office/drawing/2014/main" id="{011C5E7A-1539-4B97-9ED9-120C1897BF71}"/>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64766A"/>
                </a:solidFill>
                <a:latin typeface="Arial"/>
                <a:ea typeface="Arial"/>
                <a:cs typeface="Arial"/>
              </a:defRPr>
            </a:pPr>
            <a:r>
              <a:rPr sz="1275" b="0">
                <a:solidFill>
                  <a:srgbClr val="64766A"/>
                </a:solidFill>
                <a:latin typeface="Arial"/>
                <a:ea typeface="Arial"/>
                <a:cs typeface="Arial"/>
              </a:rPr>
              <a:t>02</a:t>
            </a:r>
          </a:p>
        </p:txBody>
      </p:sp>
      <p:sp>
        <p:nvSpPr>
          <p:cNvPr id="3" name="SCÉNARIO UTILISATEUR">
            <a:extLst xmlns:a="http://schemas.openxmlformats.org/drawingml/2006/main">
              <a:ext uri="{FF2B5EF4-FFF2-40B4-BE49-F238E27FC236}">
                <a16:creationId xmlns:a16="http://schemas.microsoft.com/office/drawing/2014/main" id="{926B8E17-B78D-4D25-8E5F-74FE3D84B62F}"/>
              </a:ext>
            </a:extLst>
          </p:cNvPr>
          <p:cNvSpPr>
            <a:spLocks xmlns:a="http://schemas.openxmlformats.org/drawingml/2006/main" noGrp="1"/>
          </p:cNvSpPr>
          <p:nvPr/>
        </p:nvSpPr>
        <p:spPr>
          <a:xfrm xmlns:a="http://schemas.openxmlformats.org/drawingml/2006/main">
            <a:off x="742950" y="20478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64766A"/>
                </a:solidFill>
                <a:latin typeface="Arial"/>
                <a:ea typeface="Arial"/>
                <a:cs typeface="Arial"/>
              </a:defRPr>
            </a:pPr>
            <a:r>
              <a:rPr sz="1425" b="0">
                <a:solidFill>
                  <a:srgbClr val="64766A"/>
                </a:solidFill>
                <a:latin typeface="Arial"/>
                <a:ea typeface="Arial"/>
                <a:cs typeface="Arial"/>
              </a:rPr>
              <a:t>SCÉNARIO UTILISATEUR</a:t>
            </a:r>
          </a:p>
        </p:txBody>
      </p:sp>
      <p:sp>
        <p:nvSpPr>
          <p:cNvPr id="4" name="« J’ai besoin de parler.&#10;Je ne sais pas par o">
            <a:extLst xmlns:a="http://schemas.openxmlformats.org/drawingml/2006/main">
              <a:ext uri="{FF2B5EF4-FFF2-40B4-BE49-F238E27FC236}">
                <a16:creationId xmlns:a16="http://schemas.microsoft.com/office/drawing/2014/main" id="{D1575D48-C77E-4345-A4FE-5055164DA2B2}"/>
              </a:ext>
            </a:extLst>
          </p:cNvPr>
          <p:cNvSpPr>
            <a:spLocks xmlns:a="http://schemas.openxmlformats.org/drawingml/2006/main" noGrp="1"/>
          </p:cNvSpPr>
          <p:nvPr/>
        </p:nvSpPr>
        <p:spPr>
          <a:xfrm xmlns:a="http://schemas.openxmlformats.org/drawingml/2006/main">
            <a:off x="723900" y="27146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0">
                <a:solidFill>
                  <a:srgbClr val="183E36"/>
                </a:solidFill>
                <a:latin typeface="Arial"/>
                <a:ea typeface="Arial"/>
                <a:cs typeface="Arial"/>
              </a:defRPr>
            </a:pPr>
            <a:r>
              <a:rPr sz="3450" b="0">
                <a:solidFill>
                  <a:srgbClr val="183E36"/>
                </a:solidFill>
                <a:latin typeface="Arial"/>
                <a:ea typeface="Arial"/>
                <a:cs typeface="Arial"/>
              </a:rPr>
              <a:t>« J’ai besoin de parler.</a:t>
            </a:r>
          </a:p>
          <a:p xmlns:a="http://schemas.openxmlformats.org/drawingml/2006/main">
            <a:pPr>
              <a:defRPr sz="3450" b="0">
                <a:solidFill>
                  <a:srgbClr val="183E36"/>
                </a:solidFill>
                <a:latin typeface="Arial"/>
                <a:ea typeface="Arial"/>
                <a:cs typeface="Arial"/>
              </a:defRPr>
            </a:pPr>
            <a:r>
              <a:rPr sz="3450" b="0">
                <a:solidFill>
                  <a:srgbClr val="183E36"/>
                </a:solidFill>
                <a:latin typeface="Arial"/>
                <a:ea typeface="Arial"/>
                <a:cs typeface="Arial"/>
              </a:rPr>
              <a:t>Je ne sais pas par où commencer. »</a:t>
            </a:r>
          </a:p>
        </p:txBody>
      </p:sp>
      <p:sp>
        <p:nvSpPr>
          <p:cNvPr id="5" name="Aina, personnage fictif de notre démonstratio">
            <a:extLst xmlns:a="http://schemas.openxmlformats.org/drawingml/2006/main">
              <a:ext uri="{FF2B5EF4-FFF2-40B4-BE49-F238E27FC236}">
                <a16:creationId xmlns:a16="http://schemas.microsoft.com/office/drawing/2014/main" id="{F7B100F3-1B11-46F0-AD8B-D5A1445FAB99}"/>
              </a:ext>
            </a:extLst>
          </p:cNvPr>
          <p:cNvSpPr>
            <a:spLocks xmlns:a="http://schemas.openxmlformats.org/drawingml/2006/main" noGrp="1"/>
          </p:cNvSpPr>
          <p:nvPr/>
        </p:nvSpPr>
        <p:spPr>
          <a:xfrm xmlns:a="http://schemas.openxmlformats.org/drawingml/2006/main">
            <a:off x="762000" y="4600575"/>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4766A"/>
                </a:solidFill>
                <a:latin typeface="Arial"/>
                <a:ea typeface="Arial"/>
                <a:cs typeface="Arial"/>
              </a:defRPr>
            </a:pPr>
            <a:r>
              <a:rPr sz="1800" b="0">
                <a:solidFill>
                  <a:srgbClr val="64766A"/>
                </a:solidFill>
                <a:latin typeface="Arial"/>
                <a:ea typeface="Arial"/>
                <a:cs typeface="Arial"/>
              </a:rPr>
              <a:t>Aina, personnage fictif de notre démonstration</a:t>
            </a:r>
          </a:p>
        </p:txBody>
      </p:sp>
      <p:sp>
        <p:nvSpPr>
          <p:cNvPr id="6" name="Notre point de départ : rendre ce premier ges">
            <a:extLst xmlns:a="http://schemas.openxmlformats.org/drawingml/2006/main">
              <a:ext uri="{FF2B5EF4-FFF2-40B4-BE49-F238E27FC236}">
                <a16:creationId xmlns:a16="http://schemas.microsoft.com/office/drawing/2014/main" id="{A12ABFD9-835F-4CE4-9828-A3DB6EAA89A8}"/>
              </a:ext>
            </a:extLst>
          </p:cNvPr>
          <p:cNvSpPr>
            <a:spLocks xmlns:a="http://schemas.openxmlformats.org/drawingml/2006/main" noGrp="1"/>
          </p:cNvSpPr>
          <p:nvPr/>
        </p:nvSpPr>
        <p:spPr>
          <a:xfrm xmlns:a="http://schemas.openxmlformats.org/drawingml/2006/main">
            <a:off x="762000" y="55530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276653"/>
                </a:solidFill>
                <a:latin typeface="Arial"/>
                <a:ea typeface="Arial"/>
                <a:cs typeface="Arial"/>
              </a:defRPr>
            </a:pPr>
            <a:r>
              <a:rPr sz="2175" b="0">
                <a:solidFill>
                  <a:srgbClr val="276653"/>
                </a:solidFill>
                <a:latin typeface="Arial"/>
                <a:ea typeface="Arial"/>
                <a:cs typeface="Arial"/>
              </a:rPr>
              <a:t>Notre point de départ : rendre ce premier geste plus simple.</a:t>
            </a:r>
          </a:p>
        </p:txBody>
      </p:sp>
    </p:spTree>
    <p:extLst>
      <p:ext uri="{BB962C8B-B14F-4D97-AF65-F5344CB8AC3E}">
        <p14:creationId xmlns:p14="http://schemas.microsoft.com/office/powerpoint/2010/main" val="866148079"/>
      </p:ext>
    </p:extLst>
  </p:cSld>
</p:sld>
</file>

<file path=ppt/slides/slide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2" name="Un parcours accessible à son rythme">
            <a:extLst xmlns:a="http://schemas.openxmlformats.org/drawingml/2006/main">
              <a:ext uri="{FF2B5EF4-FFF2-40B4-BE49-F238E27FC236}">
                <a16:creationId xmlns:a16="http://schemas.microsoft.com/office/drawing/2014/main" id="{13FEE532-B27B-4D81-B011-3CBE49152B21}"/>
              </a:ext>
            </a:extLst>
          </p:cNvPr>
          <p:cNvSpPr>
            <a:spLocks xmlns:a="http://schemas.openxmlformats.org/drawingml/2006/main" noGrp="1"/>
          </p:cNvSpPr>
          <p:nvPr/>
        </p:nvSpPr>
        <p:spPr>
          <a:xfrm xmlns:a="http://schemas.openxmlformats.org/drawingml/2006/main">
            <a:off x="704850" y="571500"/>
            <a:ext cx="107823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0">
                <a:solidFill>
                  <a:srgbClr val="183E36"/>
                </a:solidFill>
                <a:latin typeface="Arial"/>
                <a:ea typeface="Arial"/>
                <a:cs typeface="Arial"/>
              </a:defRPr>
            </a:pPr>
            <a:r>
              <a:rPr sz="3600" b="0">
                <a:solidFill>
                  <a:srgbClr val="183E36"/>
                </a:solidFill>
                <a:latin typeface="Arial"/>
                <a:ea typeface="Arial"/>
                <a:cs typeface="Arial"/>
              </a:rPr>
              <a:t>Un parcours accessible à son rythme</a:t>
            </a:r>
          </a:p>
        </p:txBody>
      </p:sp>
      <p:sp>
        <p:nvSpPr>
          <p:cNvPr id="2" name="03">
            <a:extLst xmlns:a="http://schemas.openxmlformats.org/drawingml/2006/main">
              <a:ext uri="{FF2B5EF4-FFF2-40B4-BE49-F238E27FC236}">
                <a16:creationId xmlns:a16="http://schemas.microsoft.com/office/drawing/2014/main" id="{82DB4146-BAE4-447F-B5F1-16734B1B4188}"/>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64766A"/>
                </a:solidFill>
                <a:latin typeface="Arial"/>
                <a:ea typeface="Arial"/>
                <a:cs typeface="Arial"/>
              </a:defRPr>
            </a:pPr>
            <a:r>
              <a:rPr sz="1275" b="0">
                <a:solidFill>
                  <a:srgbClr val="64766A"/>
                </a:solidFill>
                <a:latin typeface="Arial"/>
                <a:ea typeface="Arial"/>
                <a:cs typeface="Arial"/>
              </a:rPr>
              <a:t>03</a:t>
            </a:r>
          </a:p>
        </p:txBody>
      </p:sp>
      <p:sp>
        <p:nvSpPr>
          <p:cNvPr id="3" name="5 questions facultatives à l’arrivée">
            <a:extLst xmlns:a="http://schemas.openxmlformats.org/drawingml/2006/main">
              <a:ext uri="{FF2B5EF4-FFF2-40B4-BE49-F238E27FC236}">
                <a16:creationId xmlns:a16="http://schemas.microsoft.com/office/drawing/2014/main" id="{CEE58E1C-53DA-4935-8091-98B8277CA494}"/>
              </a:ext>
            </a:extLst>
          </p:cNvPr>
          <p:cNvSpPr>
            <a:spLocks xmlns:a="http://schemas.openxmlformats.org/drawingml/2006/main" noGrp="1"/>
          </p:cNvSpPr>
          <p:nvPr/>
        </p:nvSpPr>
        <p:spPr>
          <a:xfrm xmlns:a="http://schemas.openxmlformats.org/drawingml/2006/main">
            <a:off x="742950" y="19050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276653"/>
                </a:solidFill>
                <a:latin typeface="Arial"/>
                <a:ea typeface="Arial"/>
                <a:cs typeface="Arial"/>
              </a:defRPr>
            </a:pPr>
            <a:r>
              <a:rPr sz="2700" b="1">
                <a:solidFill>
                  <a:srgbClr val="276653"/>
                </a:solidFill>
                <a:latin typeface="Arial"/>
                <a:ea typeface="Arial"/>
                <a:cs typeface="Arial"/>
              </a:rPr>
              <a:t>5 questions facultatives à l’arrivée</a:t>
            </a:r>
          </a:p>
        </p:txBody>
      </p:sp>
      <p:sp>
        <p:nvSpPr>
          <p:cNvPr id="4" name="Parler avec l’IA">
            <a:extLst xmlns:a="http://schemas.openxmlformats.org/drawingml/2006/main">
              <a:ext uri="{FF2B5EF4-FFF2-40B4-BE49-F238E27FC236}">
                <a16:creationId xmlns:a16="http://schemas.microsoft.com/office/drawing/2014/main" id="{9C7E437A-4C08-4663-894F-6E3279ADBF04}"/>
              </a:ext>
            </a:extLst>
          </p:cNvPr>
          <p:cNvSpPr>
            <a:spLocks xmlns:a="http://schemas.openxmlformats.org/drawingml/2006/main" noGrp="1"/>
          </p:cNvSpPr>
          <p:nvPr/>
        </p:nvSpPr>
        <p:spPr>
          <a:xfrm xmlns:a="http://schemas.openxmlformats.org/drawingml/2006/main">
            <a:off x="742950" y="304800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83E36"/>
                </a:solidFill>
                <a:latin typeface="Arial"/>
                <a:ea typeface="Arial"/>
                <a:cs typeface="Arial"/>
              </a:defRPr>
            </a:pPr>
            <a:r>
              <a:rPr sz="2325" b="1">
                <a:solidFill>
                  <a:srgbClr val="183E36"/>
                </a:solidFill>
                <a:latin typeface="Arial"/>
                <a:ea typeface="Arial"/>
                <a:cs typeface="Arial"/>
              </a:rPr>
              <a:t>Parler avec l’IA</a:t>
            </a:r>
          </a:p>
        </p:txBody>
      </p:sp>
      <p:sp>
        <p:nvSpPr>
          <p:cNvPr id="5" name="Commencer un échange écrit ou vocal.">
            <a:extLst xmlns:a="http://schemas.openxmlformats.org/drawingml/2006/main">
              <a:ext uri="{FF2B5EF4-FFF2-40B4-BE49-F238E27FC236}">
                <a16:creationId xmlns:a16="http://schemas.microsoft.com/office/drawing/2014/main" id="{7EEEA3F0-DEE6-44A1-8A2B-89981A75217D}"/>
              </a:ext>
            </a:extLst>
          </p:cNvPr>
          <p:cNvSpPr>
            <a:spLocks xmlns:a="http://schemas.openxmlformats.org/drawingml/2006/main" noGrp="1"/>
          </p:cNvSpPr>
          <p:nvPr/>
        </p:nvSpPr>
        <p:spPr>
          <a:xfrm xmlns:a="http://schemas.openxmlformats.org/drawingml/2006/main">
            <a:off x="742950" y="361950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64766A"/>
                </a:solidFill>
                <a:latin typeface="Arial"/>
                <a:ea typeface="Arial"/>
                <a:cs typeface="Arial"/>
              </a:defRPr>
            </a:pPr>
            <a:r>
              <a:rPr sz="1875" b="0">
                <a:solidFill>
                  <a:srgbClr val="64766A"/>
                </a:solidFill>
                <a:latin typeface="Arial"/>
                <a:ea typeface="Arial"/>
                <a:cs typeface="Arial"/>
              </a:rPr>
              <a:t>Commencer un échange écrit ou vocal.</a:t>
            </a:r>
          </a:p>
        </p:txBody>
      </p:sp>
      <p:sp>
        <p:nvSpPr>
          <p:cNvPr id="6" name="Faire une pause">
            <a:extLst xmlns:a="http://schemas.openxmlformats.org/drawingml/2006/main">
              <a:ext uri="{FF2B5EF4-FFF2-40B4-BE49-F238E27FC236}">
                <a16:creationId xmlns:a16="http://schemas.microsoft.com/office/drawing/2014/main" id="{7C5E7CD0-FE27-48A5-958C-A9A8147C2E29}"/>
              </a:ext>
            </a:extLst>
          </p:cNvPr>
          <p:cNvSpPr>
            <a:spLocks xmlns:a="http://schemas.openxmlformats.org/drawingml/2006/main" noGrp="1"/>
          </p:cNvSpPr>
          <p:nvPr/>
        </p:nvSpPr>
        <p:spPr>
          <a:xfrm xmlns:a="http://schemas.openxmlformats.org/drawingml/2006/main">
            <a:off x="6705600" y="304800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83E36"/>
                </a:solidFill>
                <a:latin typeface="Arial"/>
                <a:ea typeface="Arial"/>
                <a:cs typeface="Arial"/>
              </a:defRPr>
            </a:pPr>
            <a:r>
              <a:rPr sz="2325" b="1">
                <a:solidFill>
                  <a:srgbClr val="183E36"/>
                </a:solidFill>
                <a:latin typeface="Arial"/>
                <a:ea typeface="Arial"/>
                <a:cs typeface="Arial"/>
              </a:rPr>
              <a:t>Faire une pause</a:t>
            </a:r>
          </a:p>
        </p:txBody>
      </p:sp>
      <p:sp>
        <p:nvSpPr>
          <p:cNvPr id="7" name="Choisir parmi cinq exercices guidés.">
            <a:extLst xmlns:a="http://schemas.openxmlformats.org/drawingml/2006/main">
              <a:ext uri="{FF2B5EF4-FFF2-40B4-BE49-F238E27FC236}">
                <a16:creationId xmlns:a16="http://schemas.microsoft.com/office/drawing/2014/main" id="{E18A7E32-27AE-4BF3-A79E-90378897206A}"/>
              </a:ext>
            </a:extLst>
          </p:cNvPr>
          <p:cNvSpPr>
            <a:spLocks xmlns:a="http://schemas.openxmlformats.org/drawingml/2006/main" noGrp="1"/>
          </p:cNvSpPr>
          <p:nvPr/>
        </p:nvSpPr>
        <p:spPr>
          <a:xfrm xmlns:a="http://schemas.openxmlformats.org/drawingml/2006/main">
            <a:off x="6705600" y="361950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64766A"/>
                </a:solidFill>
                <a:latin typeface="Arial"/>
                <a:ea typeface="Arial"/>
                <a:cs typeface="Arial"/>
              </a:defRPr>
            </a:pPr>
            <a:r>
              <a:rPr sz="1875" b="0">
                <a:solidFill>
                  <a:srgbClr val="64766A"/>
                </a:solidFill>
                <a:latin typeface="Arial"/>
                <a:ea typeface="Arial"/>
                <a:cs typeface="Arial"/>
              </a:rPr>
              <a:t>Choisir parmi cinq exercices guidés.</a:t>
            </a:r>
          </a:p>
        </p:txBody>
      </p:sp>
      <p:sp>
        <p:nvSpPr>
          <p:cNvPr id="8" name="Partager dans le forum">
            <a:extLst xmlns:a="http://schemas.openxmlformats.org/drawingml/2006/main">
              <a:ext uri="{FF2B5EF4-FFF2-40B4-BE49-F238E27FC236}">
                <a16:creationId xmlns:a16="http://schemas.microsoft.com/office/drawing/2014/main" id="{C2AC9D2A-1E9E-44E2-92B8-84FF648B9707}"/>
              </a:ext>
            </a:extLst>
          </p:cNvPr>
          <p:cNvSpPr>
            <a:spLocks xmlns:a="http://schemas.openxmlformats.org/drawingml/2006/main" noGrp="1"/>
          </p:cNvSpPr>
          <p:nvPr/>
        </p:nvSpPr>
        <p:spPr>
          <a:xfrm xmlns:a="http://schemas.openxmlformats.org/drawingml/2006/main">
            <a:off x="742950" y="4762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83E36"/>
                </a:solidFill>
                <a:latin typeface="Arial"/>
                <a:ea typeface="Arial"/>
                <a:cs typeface="Arial"/>
              </a:defRPr>
            </a:pPr>
            <a:r>
              <a:rPr sz="2325" b="1">
                <a:solidFill>
                  <a:srgbClr val="183E36"/>
                </a:solidFill>
                <a:latin typeface="Arial"/>
                <a:ea typeface="Arial"/>
                <a:cs typeface="Arial"/>
              </a:rPr>
              <a:t>Partager dans le forum</a:t>
            </a:r>
          </a:p>
        </p:txBody>
      </p:sp>
      <p:sp>
        <p:nvSpPr>
          <p:cNvPr id="9" name="Échanger par thème, sous pseudonyme.">
            <a:extLst xmlns:a="http://schemas.openxmlformats.org/drawingml/2006/main">
              <a:ext uri="{FF2B5EF4-FFF2-40B4-BE49-F238E27FC236}">
                <a16:creationId xmlns:a16="http://schemas.microsoft.com/office/drawing/2014/main" id="{C43C98EA-B236-4134-BAB0-1697652324FA}"/>
              </a:ext>
            </a:extLst>
          </p:cNvPr>
          <p:cNvSpPr>
            <a:spLocks xmlns:a="http://schemas.openxmlformats.org/drawingml/2006/main" noGrp="1"/>
          </p:cNvSpPr>
          <p:nvPr/>
        </p:nvSpPr>
        <p:spPr>
          <a:xfrm xmlns:a="http://schemas.openxmlformats.org/drawingml/2006/main">
            <a:off x="742950" y="533400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64766A"/>
                </a:solidFill>
                <a:latin typeface="Arial"/>
                <a:ea typeface="Arial"/>
                <a:cs typeface="Arial"/>
              </a:defRPr>
            </a:pPr>
            <a:r>
              <a:rPr sz="1875" b="0">
                <a:solidFill>
                  <a:srgbClr val="64766A"/>
                </a:solidFill>
                <a:latin typeface="Arial"/>
                <a:ea typeface="Arial"/>
                <a:cs typeface="Arial"/>
              </a:rPr>
              <a:t>Échanger par thème, sous pseudonyme.</a:t>
            </a:r>
          </a:p>
        </p:txBody>
      </p:sp>
      <p:sp>
        <p:nvSpPr>
          <p:cNvPr id="10" name="Chercher un accompagnant">
            <a:extLst xmlns:a="http://schemas.openxmlformats.org/drawingml/2006/main">
              <a:ext uri="{FF2B5EF4-FFF2-40B4-BE49-F238E27FC236}">
                <a16:creationId xmlns:a16="http://schemas.microsoft.com/office/drawing/2014/main" id="{CCCE2D74-F5C2-4EDE-863E-B7AAC593132D}"/>
              </a:ext>
            </a:extLst>
          </p:cNvPr>
          <p:cNvSpPr>
            <a:spLocks xmlns:a="http://schemas.openxmlformats.org/drawingml/2006/main" noGrp="1"/>
          </p:cNvSpPr>
          <p:nvPr/>
        </p:nvSpPr>
        <p:spPr>
          <a:xfrm xmlns:a="http://schemas.openxmlformats.org/drawingml/2006/main">
            <a:off x="6705600" y="47625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83E36"/>
                </a:solidFill>
                <a:latin typeface="Arial"/>
                <a:ea typeface="Arial"/>
                <a:cs typeface="Arial"/>
              </a:defRPr>
            </a:pPr>
            <a:r>
              <a:rPr sz="2325" b="1">
                <a:solidFill>
                  <a:srgbClr val="183E36"/>
                </a:solidFill>
                <a:latin typeface="Arial"/>
                <a:ea typeface="Arial"/>
                <a:cs typeface="Arial"/>
              </a:rPr>
              <a:t>Chercher un accompagnant</a:t>
            </a:r>
          </a:p>
        </p:txBody>
      </p:sp>
      <p:sp>
        <p:nvSpPr>
          <p:cNvPr id="11" name="Consulter un profil et préparer un contact.">
            <a:extLst xmlns:a="http://schemas.openxmlformats.org/drawingml/2006/main">
              <a:ext uri="{FF2B5EF4-FFF2-40B4-BE49-F238E27FC236}">
                <a16:creationId xmlns:a16="http://schemas.microsoft.com/office/drawing/2014/main" id="{10B09852-28CC-4976-9C4E-DFA49936651B}"/>
              </a:ext>
            </a:extLst>
          </p:cNvPr>
          <p:cNvSpPr>
            <a:spLocks xmlns:a="http://schemas.openxmlformats.org/drawingml/2006/main" noGrp="1"/>
          </p:cNvSpPr>
          <p:nvPr/>
        </p:nvSpPr>
        <p:spPr>
          <a:xfrm xmlns:a="http://schemas.openxmlformats.org/drawingml/2006/main">
            <a:off x="6705600" y="5334000"/>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64766A"/>
                </a:solidFill>
                <a:latin typeface="Arial"/>
                <a:ea typeface="Arial"/>
                <a:cs typeface="Arial"/>
              </a:defRPr>
            </a:pPr>
            <a:r>
              <a:rPr sz="1875" b="0">
                <a:solidFill>
                  <a:srgbClr val="64766A"/>
                </a:solidFill>
                <a:latin typeface="Arial"/>
                <a:ea typeface="Arial"/>
                <a:cs typeface="Arial"/>
              </a:rPr>
              <a:t>Consulter un profil et préparer un contact.</a:t>
            </a:r>
          </a:p>
        </p:txBody>
      </p:sp>
    </p:spTree>
    <p:extLst>
      <p:ext uri="{BB962C8B-B14F-4D97-AF65-F5344CB8AC3E}">
        <p14:creationId xmlns:p14="http://schemas.microsoft.com/office/powerpoint/2010/main" val="1734862573"/>
      </p:ext>
    </p:extLst>
  </p:cSld>
</p:sld>
</file>

<file path=ppt/slides/slide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3" name="04">
            <a:extLst xmlns:a="http://schemas.openxmlformats.org/drawingml/2006/main">
              <a:ext uri="{FF2B5EF4-FFF2-40B4-BE49-F238E27FC236}">
                <a16:creationId xmlns:a16="http://schemas.microsoft.com/office/drawing/2014/main" id="{E0071B88-1729-4488-BC0D-2D4BB8FF98B9}"/>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64766A"/>
                </a:solidFill>
                <a:latin typeface="Arial"/>
                <a:ea typeface="Arial"/>
                <a:cs typeface="Arial"/>
              </a:defRPr>
            </a:pPr>
            <a:r>
              <a:rPr sz="1275" b="0">
                <a:solidFill>
                  <a:srgbClr val="64766A"/>
                </a:solidFill>
                <a:latin typeface="Arial"/>
                <a:ea typeface="Arial"/>
                <a:cs typeface="Arial"/>
              </a:rPr>
              <a:t>04</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bc5c1745b7804a7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74382813"/>
      </p:ext>
    </p:extLst>
  </p:cSld>
</p:sld>
</file>

<file path=ppt/slides/slide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3" name="05">
            <a:extLst xmlns:a="http://schemas.openxmlformats.org/drawingml/2006/main">
              <a:ext uri="{FF2B5EF4-FFF2-40B4-BE49-F238E27FC236}">
                <a16:creationId xmlns:a16="http://schemas.microsoft.com/office/drawing/2014/main" id="{F1066437-46B2-4F05-9584-D6DE34161FEB}"/>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64766A"/>
                </a:solidFill>
                <a:latin typeface="Arial"/>
                <a:ea typeface="Arial"/>
                <a:cs typeface="Arial"/>
              </a:defRPr>
            </a:pPr>
            <a:r>
              <a:rPr sz="1275" b="0">
                <a:solidFill>
                  <a:srgbClr val="64766A"/>
                </a:solidFill>
                <a:latin typeface="Arial"/>
                <a:ea typeface="Arial"/>
                <a:cs typeface="Arial"/>
              </a:rPr>
              <a:t>05</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f5ee4dd2101e4a2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2858525"/>
      </p:ext>
    </p:extLst>
  </p:cSld>
</p:sld>
</file>

<file path=ppt/slides/slide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3" name="06">
            <a:extLst xmlns:a="http://schemas.openxmlformats.org/drawingml/2006/main">
              <a:ext uri="{FF2B5EF4-FFF2-40B4-BE49-F238E27FC236}">
                <a16:creationId xmlns:a16="http://schemas.microsoft.com/office/drawing/2014/main" id="{BD73C049-1565-4292-816C-2012878A1590}"/>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64766A"/>
                </a:solidFill>
                <a:latin typeface="Arial"/>
                <a:ea typeface="Arial"/>
                <a:cs typeface="Arial"/>
              </a:defRPr>
            </a:pPr>
            <a:r>
              <a:rPr sz="1275" b="0">
                <a:solidFill>
                  <a:srgbClr val="64766A"/>
                </a:solidFill>
                <a:latin typeface="Arial"/>
                <a:ea typeface="Arial"/>
                <a:cs typeface="Arial"/>
              </a:rPr>
              <a:t>06</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201c5b943ac6447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34235467"/>
      </p:ext>
    </p:extLst>
  </p:cSld>
</p:sld>
</file>

<file path=ppt/slides/slide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7" name="Trois offres, une même base accessible">
            <a:extLst xmlns:a="http://schemas.openxmlformats.org/drawingml/2006/main">
              <a:ext uri="{FF2B5EF4-FFF2-40B4-BE49-F238E27FC236}">
                <a16:creationId xmlns:a16="http://schemas.microsoft.com/office/drawing/2014/main" id="{F97E43CB-1EFE-48FA-A44B-ADD630D7B11A}"/>
              </a:ext>
            </a:extLst>
          </p:cNvPr>
          <p:cNvSpPr>
            <a:spLocks xmlns:a="http://schemas.openxmlformats.org/drawingml/2006/main" noGrp="1"/>
          </p:cNvSpPr>
          <p:nvPr/>
        </p:nvSpPr>
        <p:spPr>
          <a:xfrm xmlns:a="http://schemas.openxmlformats.org/drawingml/2006/main">
            <a:off x="704850" y="571500"/>
            <a:ext cx="107823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0">
                <a:solidFill>
                  <a:srgbClr val="183E36"/>
                </a:solidFill>
                <a:latin typeface="Arial"/>
                <a:ea typeface="Arial"/>
                <a:cs typeface="Arial"/>
              </a:defRPr>
            </a:pPr>
            <a:r>
              <a:rPr sz="3600" b="0">
                <a:solidFill>
                  <a:srgbClr val="183E36"/>
                </a:solidFill>
                <a:latin typeface="Arial"/>
                <a:ea typeface="Arial"/>
                <a:cs typeface="Arial"/>
              </a:rPr>
              <a:t>Trois offres, une même base accessible</a:t>
            </a:r>
          </a:p>
        </p:txBody>
      </p:sp>
      <p:sp>
        <p:nvSpPr>
          <p:cNvPr id="2" name="07">
            <a:extLst xmlns:a="http://schemas.openxmlformats.org/drawingml/2006/main">
              <a:ext uri="{FF2B5EF4-FFF2-40B4-BE49-F238E27FC236}">
                <a16:creationId xmlns:a16="http://schemas.microsoft.com/office/drawing/2014/main" id="{FFFEA35C-9BDF-4985-885A-53F60716017E}"/>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64766A"/>
                </a:solidFill>
                <a:latin typeface="Arial"/>
                <a:ea typeface="Arial"/>
                <a:cs typeface="Arial"/>
              </a:defRPr>
            </a:pPr>
            <a:r>
              <a:rPr sz="1275" b="0">
                <a:solidFill>
                  <a:srgbClr val="64766A"/>
                </a:solidFill>
                <a:latin typeface="Arial"/>
                <a:ea typeface="Arial"/>
                <a:cs typeface="Arial"/>
              </a:rPr>
              <a:t>07</a:t>
            </a:r>
          </a:p>
        </p:txBody>
      </p:sp>
      <p:sp>
        <p:nvSpPr>
          <p:cNvPr id="3" name="IA illimitée, forum et exercices dans tous le">
            <a:extLst xmlns:a="http://schemas.openxmlformats.org/drawingml/2006/main">
              <a:ext uri="{FF2B5EF4-FFF2-40B4-BE49-F238E27FC236}">
                <a16:creationId xmlns:a16="http://schemas.microsoft.com/office/drawing/2014/main" id="{D05E5258-9540-440C-B680-6EBBE4B335DE}"/>
              </a:ext>
            </a:extLst>
          </p:cNvPr>
          <p:cNvSpPr>
            <a:spLocks xmlns:a="http://schemas.openxmlformats.org/drawingml/2006/main" noGrp="1"/>
          </p:cNvSpPr>
          <p:nvPr/>
        </p:nvSpPr>
        <p:spPr>
          <a:xfrm xmlns:a="http://schemas.openxmlformats.org/drawingml/2006/main">
            <a:off x="742950" y="18002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276653"/>
                </a:solidFill>
                <a:latin typeface="Arial"/>
                <a:ea typeface="Arial"/>
                <a:cs typeface="Arial"/>
              </a:defRPr>
            </a:pPr>
            <a:r>
              <a:rPr sz="2250" b="1">
                <a:solidFill>
                  <a:srgbClr val="276653"/>
                </a:solidFill>
                <a:latin typeface="Arial"/>
                <a:ea typeface="Arial"/>
                <a:cs typeface="Arial"/>
              </a:rPr>
              <a:t>IA illimitée, forum et exercices dans tous les plans</a:t>
            </a:r>
          </a:p>
        </p:txBody>
      </p:sp>
      <p:graphicFrame>
        <p:nvGraphicFramePr>
          <p:cNvPr id="10" name=""/>
          <p:cNvGraphicFramePr/>
          <p:nvPr/>
        </p:nvGraphicFramePr>
        <p:xfrm>
          <a:off xmlns:a="http://schemas.openxmlformats.org/drawingml/2006/main" x="742950" y="2781300"/>
          <a:ext xmlns:a="http://schemas.openxmlformats.org/drawingml/2006/main" cx="10706100" cy="2247900"/>
        </p:xfrm>
        <a:graphic xmlns:a="http://schemas.openxmlformats.org/drawingml/2006/main">
          <a:graphicData uri="http://schemas.openxmlformats.org/drawingml/2006/table">
            <a:tbl>
              <a:tblPr/>
              <a:tblGrid>
                <a:gridCol w="2324100"/>
                <a:gridCol w="2667000"/>
                <a:gridCol w="2857500"/>
                <a:gridCol w="2857500"/>
              </a:tblGrid>
              <a:tr h="749300">
                <a:tc>
                  <a:txBody>
                    <a:bodyPr/>
                    <a:lstStyle/>
                    <a:p>
                      <a:r>
                        <a:rPr sz="1875" b="1">
                          <a:solidFill>
                            <a:srgbClr val="FFFFFF"/>
                          </a:solidFill>
                          <a:latin typeface="Arial"/>
                          <a:ea typeface="Arial"/>
                          <a:cs typeface="Arial"/>
                        </a:rPr>
                        <a:t>Offre prévue</a:t>
                      </a:r>
                    </a:p>
                  </a:txBody>
                  <a:tcPr marL="91440" marR="91440" marT="45720" marB="45720">
                    <a:solidFill>
                      <a:srgbClr val="276653"/>
                    </a:solidFill>
                  </a:tcPr>
                </a:tc>
                <a:tc>
                  <a:txBody>
                    <a:bodyPr/>
                    <a:lstStyle/>
                    <a:p>
                      <a:r>
                        <a:rPr sz="1875" b="1">
                          <a:solidFill>
                            <a:srgbClr val="FFFFFF"/>
                          </a:solidFill>
                          <a:latin typeface="Arial"/>
                          <a:ea typeface="Arial"/>
                          <a:cs typeface="Arial"/>
                        </a:rPr>
                        <a:t>Gratuit</a:t>
                      </a:r>
                    </a:p>
                  </a:txBody>
                  <a:tcPr marL="91440" marR="91440" marT="45720" marB="45720">
                    <a:solidFill>
                      <a:srgbClr val="276653"/>
                    </a:solidFill>
                  </a:tcPr>
                </a:tc>
                <a:tc>
                  <a:txBody>
                    <a:bodyPr/>
                    <a:lstStyle/>
                    <a:p>
                      <a:r>
                        <a:rPr sz="1875" b="1">
                          <a:solidFill>
                            <a:srgbClr val="FFFFFF"/>
                          </a:solidFill>
                          <a:latin typeface="Arial"/>
                          <a:ea typeface="Arial"/>
                          <a:cs typeface="Arial"/>
                        </a:rPr>
                        <a:t>Premium</a:t>
                      </a:r>
                    </a:p>
                  </a:txBody>
                  <a:tcPr marL="91440" marR="91440" marT="45720" marB="45720">
                    <a:solidFill>
                      <a:srgbClr val="276653"/>
                    </a:solidFill>
                  </a:tcPr>
                </a:tc>
                <a:tc>
                  <a:txBody>
                    <a:bodyPr/>
                    <a:lstStyle/>
                    <a:p>
                      <a:r>
                        <a:rPr sz="1875" b="1">
                          <a:solidFill>
                            <a:srgbClr val="FFFFFF"/>
                          </a:solidFill>
                          <a:latin typeface="Arial"/>
                          <a:ea typeface="Arial"/>
                          <a:cs typeface="Arial"/>
                        </a:rPr>
                        <a:t>Premium Plus</a:t>
                      </a:r>
                    </a:p>
                  </a:txBody>
                  <a:tcPr marL="91440" marR="91440" marT="45720" marB="45720">
                    <a:solidFill>
                      <a:srgbClr val="276653"/>
                    </a:solidFill>
                  </a:tcPr>
                </a:tc>
              </a:tr>
              <a:tr h="749300">
                <a:tc>
                  <a:txBody>
                    <a:bodyPr/>
                    <a:lstStyle/>
                    <a:p>
                      <a:r>
                        <a:rPr sz="1800" b="1">
                          <a:solidFill>
                            <a:srgbClr val="183E36"/>
                          </a:solidFill>
                          <a:latin typeface="Arial"/>
                          <a:ea typeface="Arial"/>
                          <a:cs typeface="Arial"/>
                        </a:rPr>
                        <a:t>Financement</a:t>
                      </a:r>
                    </a:p>
                  </a:txBody>
                  <a:tcPr marL="91440" marR="91440" marT="45720" marB="45720">
                    <a:solidFill>
                      <a:srgbClr val="E6EDE5"/>
                    </a:solidFill>
                  </a:tcPr>
                </a:tc>
                <a:tc>
                  <a:txBody>
                    <a:bodyPr/>
                    <a:lstStyle/>
                    <a:p>
                      <a:r>
                        <a:rPr sz="1800" b="0">
                          <a:solidFill>
                            <a:srgbClr val="183E36"/>
                          </a:solidFill>
                          <a:latin typeface="Arial"/>
                          <a:ea typeface="Arial"/>
                          <a:cs typeface="Arial"/>
                        </a:rPr>
                        <a:t>Publicité en haut</a:t>
                      </a:r>
                    </a:p>
                    <a:p>
                      <a:r>
                        <a:rPr sz="1800" b="0">
                          <a:solidFill>
                            <a:srgbClr val="183E36"/>
                          </a:solidFill>
                          <a:latin typeface="Arial"/>
                          <a:ea typeface="Arial"/>
                          <a:cs typeface="Arial"/>
                        </a:rPr>
                        <a:t>de page</a:t>
                      </a:r>
                    </a:p>
                  </a:txBody>
                  <a:tcPr marL="91440" marR="91440" marT="45720" marB="45720">
                    <a:solidFill>
                      <a:srgbClr val="E6EDE5"/>
                    </a:solidFill>
                  </a:tcPr>
                </a:tc>
                <a:tc>
                  <a:txBody>
                    <a:bodyPr/>
                    <a:lstStyle/>
                    <a:p>
                      <a:r>
                        <a:rPr sz="1800" b="0">
                          <a:solidFill>
                            <a:srgbClr val="183E36"/>
                          </a:solidFill>
                          <a:latin typeface="Arial"/>
                          <a:ea typeface="Arial"/>
                          <a:cs typeface="Arial"/>
                        </a:rPr>
                        <a:t>Abonnement</a:t>
                      </a:r>
                    </a:p>
                  </a:txBody>
                  <a:tcPr marL="91440" marR="91440" marT="45720" marB="45720">
                    <a:solidFill>
                      <a:srgbClr val="E6EDE5"/>
                    </a:solidFill>
                  </a:tcPr>
                </a:tc>
                <a:tc>
                  <a:txBody>
                    <a:bodyPr/>
                    <a:lstStyle/>
                    <a:p>
                      <a:r>
                        <a:rPr sz="1800" b="0">
                          <a:solidFill>
                            <a:srgbClr val="183E36"/>
                          </a:solidFill>
                          <a:latin typeface="Arial"/>
                          <a:ea typeface="Arial"/>
                          <a:cs typeface="Arial"/>
                        </a:rPr>
                        <a:t>Abonnement</a:t>
                      </a:r>
                    </a:p>
                    <a:p>
                      <a:r>
                        <a:rPr sz="1800" b="0">
                          <a:solidFill>
                            <a:srgbClr val="183E36"/>
                          </a:solidFill>
                          <a:latin typeface="Arial"/>
                          <a:ea typeface="Arial"/>
                          <a:cs typeface="Arial"/>
                        </a:rPr>
                        <a:t>supérieur</a:t>
                      </a:r>
                    </a:p>
                  </a:txBody>
                  <a:tcPr marL="91440" marR="91440" marT="45720" marB="45720">
                    <a:solidFill>
                      <a:srgbClr val="E6EDE5"/>
                    </a:solidFill>
                  </a:tcPr>
                </a:tc>
              </a:tr>
              <a:tr h="749300">
                <a:tc>
                  <a:txBody>
                    <a:bodyPr/>
                    <a:lstStyle/>
                    <a:p>
                      <a:r>
                        <a:rPr sz="1800" b="1">
                          <a:solidFill>
                            <a:srgbClr val="183E36"/>
                          </a:solidFill>
                          <a:latin typeface="Arial"/>
                          <a:ea typeface="Arial"/>
                          <a:cs typeface="Arial"/>
                        </a:rPr>
                        <a:t>Psychologues</a:t>
                      </a:r>
                    </a:p>
                  </a:txBody>
                  <a:tcPr marL="91440" marR="91440" marT="45720" marB="45720">
                    <a:solidFill>
                      <a:srgbClr val="F8F6F0"/>
                    </a:solidFill>
                  </a:tcPr>
                </a:tc>
                <a:tc>
                  <a:txBody>
                    <a:bodyPr/>
                    <a:lstStyle/>
                    <a:p>
                      <a:r>
                        <a:rPr sz="1800" b="0">
                          <a:solidFill>
                            <a:srgbClr val="183E36"/>
                          </a:solidFill>
                          <a:latin typeface="Arial"/>
                          <a:ea typeface="Arial"/>
                          <a:cs typeface="Arial"/>
                        </a:rPr>
                        <a:t>Non inclus</a:t>
                      </a:r>
                    </a:p>
                  </a:txBody>
                  <a:tcPr marL="91440" marR="91440" marT="45720" marB="45720">
                    <a:solidFill>
                      <a:srgbClr val="F8F6F0"/>
                    </a:solidFill>
                  </a:tcPr>
                </a:tc>
                <a:tc>
                  <a:txBody>
                    <a:bodyPr/>
                    <a:lstStyle/>
                    <a:p>
                      <a:r>
                        <a:rPr sz="1800" b="0">
                          <a:solidFill>
                            <a:srgbClr val="183E36"/>
                          </a:solidFill>
                          <a:latin typeface="Arial"/>
                          <a:ea typeface="Arial"/>
                          <a:cs typeface="Arial"/>
                        </a:rPr>
                        <a:t>Crédits pour</a:t>
                      </a:r>
                    </a:p>
                    <a:p>
                      <a:r>
                        <a:rPr sz="1800" b="0">
                          <a:solidFill>
                            <a:srgbClr val="183E36"/>
                          </a:solidFill>
                          <a:latin typeface="Arial"/>
                          <a:ea typeface="Arial"/>
                          <a:cs typeface="Arial"/>
                        </a:rPr>
                        <a:t>les appels directs</a:t>
                      </a:r>
                    </a:p>
                  </a:txBody>
                  <a:tcPr marL="91440" marR="91440" marT="45720" marB="45720">
                    <a:solidFill>
                      <a:srgbClr val="F8F6F0"/>
                    </a:solidFill>
                  </a:tcPr>
                </a:tc>
                <a:tc>
                  <a:txBody>
                    <a:bodyPr/>
                    <a:lstStyle/>
                    <a:p>
                      <a:r>
                        <a:rPr sz="1800" b="0">
                          <a:solidFill>
                            <a:srgbClr val="183E36"/>
                          </a:solidFill>
                          <a:latin typeface="Arial"/>
                          <a:ea typeface="Arial"/>
                          <a:cs typeface="Arial"/>
                        </a:rPr>
                        <a:t>Accès total</a:t>
                      </a:r>
                    </a:p>
                    <a:p>
                      <a:r>
                        <a:rPr sz="1800" b="0">
                          <a:solidFill>
                            <a:srgbClr val="183E36"/>
                          </a:solidFill>
                          <a:latin typeface="Arial"/>
                          <a:ea typeface="Arial"/>
                          <a:cs typeface="Arial"/>
                        </a:rPr>
                        <a:t>et prioritaire</a:t>
                      </a:r>
                    </a:p>
                  </a:txBody>
                  <a:tcPr marL="91440" marR="91440" marT="45720" marB="45720">
                    <a:solidFill>
                      <a:srgbClr val="F8F6F0"/>
                    </a:solidFill>
                  </a:tcPr>
                </a:tc>
              </a:tr>
            </a:tbl>
          </a:graphicData>
        </a:graphic>
      </p:graphicFrame>
      <p:sp>
        <p:nvSpPr>
          <p:cNvPr id="5" name="Hors ligne : exercices uniquement">
            <a:extLst xmlns:a="http://schemas.openxmlformats.org/drawingml/2006/main">
              <a:ext uri="{FF2B5EF4-FFF2-40B4-BE49-F238E27FC236}">
                <a16:creationId xmlns:a16="http://schemas.microsoft.com/office/drawing/2014/main" id="{92B8569B-7568-4B8A-B9FB-367EA9E55394}"/>
              </a:ext>
            </a:extLst>
          </p:cNvPr>
          <p:cNvSpPr>
            <a:spLocks xmlns:a="http://schemas.openxmlformats.org/drawingml/2006/main" noGrp="1"/>
          </p:cNvSpPr>
          <p:nvPr/>
        </p:nvSpPr>
        <p:spPr>
          <a:xfrm xmlns:a="http://schemas.openxmlformats.org/drawingml/2006/main">
            <a:off x="742950" y="53530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276653"/>
                </a:solidFill>
                <a:latin typeface="Arial"/>
                <a:ea typeface="Arial"/>
                <a:cs typeface="Arial"/>
              </a:defRPr>
            </a:pPr>
            <a:r>
              <a:rPr sz="2025" b="1">
                <a:solidFill>
                  <a:srgbClr val="276653"/>
                </a:solidFill>
                <a:latin typeface="Arial"/>
                <a:ea typeface="Arial"/>
                <a:cs typeface="Arial"/>
              </a:rPr>
              <a:t>Hors ligne : exercices uniquement</a:t>
            </a:r>
          </a:p>
        </p:txBody>
      </p:sp>
      <p:sp>
        <p:nvSpPr>
          <p:cNvPr id="6" name="Tarifs, nombre de crédits et modalités de pri">
            <a:extLst xmlns:a="http://schemas.openxmlformats.org/drawingml/2006/main">
              <a:ext uri="{FF2B5EF4-FFF2-40B4-BE49-F238E27FC236}">
                <a16:creationId xmlns:a16="http://schemas.microsoft.com/office/drawing/2014/main" id="{55DAA381-EF9D-46A4-A02A-1A1E648DD701}"/>
              </a:ext>
            </a:extLst>
          </p:cNvPr>
          <p:cNvSpPr>
            <a:spLocks xmlns:a="http://schemas.openxmlformats.org/drawingml/2006/main" noGrp="1"/>
          </p:cNvSpPr>
          <p:nvPr/>
        </p:nvSpPr>
        <p:spPr>
          <a:xfrm xmlns:a="http://schemas.openxmlformats.org/drawingml/2006/main">
            <a:off x="742950" y="59245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64766A"/>
                </a:solidFill>
                <a:latin typeface="Arial"/>
                <a:ea typeface="Arial"/>
                <a:cs typeface="Arial"/>
              </a:defRPr>
            </a:pPr>
            <a:r>
              <a:rPr sz="1500" b="0">
                <a:solidFill>
                  <a:srgbClr val="64766A"/>
                </a:solidFill>
                <a:latin typeface="Arial"/>
                <a:ea typeface="Arial"/>
                <a:cs typeface="Arial"/>
              </a:rPr>
              <a:t>Tarifs, nombre de crédits et modalités de priorité à définir.</a:t>
            </a:r>
          </a:p>
        </p:txBody>
      </p:sp>
    </p:spTree>
    <p:extLst>
      <p:ext uri="{BB962C8B-B14F-4D97-AF65-F5344CB8AC3E}">
        <p14:creationId xmlns:p14="http://schemas.microsoft.com/office/powerpoint/2010/main" val="986896205"/>
      </p:ext>
    </p:extLst>
  </p:cSld>
</p:sld>
</file>

<file path=ppt/slides/slide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8" name="Financer un service qui reste accessible">
            <a:extLst xmlns:a="http://schemas.openxmlformats.org/drawingml/2006/main">
              <a:ext uri="{FF2B5EF4-FFF2-40B4-BE49-F238E27FC236}">
                <a16:creationId xmlns:a16="http://schemas.microsoft.com/office/drawing/2014/main" id="{FAF2A5A9-CBE1-490E-974F-8708A9652170}"/>
              </a:ext>
            </a:extLst>
          </p:cNvPr>
          <p:cNvSpPr>
            <a:spLocks xmlns:a="http://schemas.openxmlformats.org/drawingml/2006/main" noGrp="1"/>
          </p:cNvSpPr>
          <p:nvPr/>
        </p:nvSpPr>
        <p:spPr>
          <a:xfrm xmlns:a="http://schemas.openxmlformats.org/drawingml/2006/main">
            <a:off x="704850" y="571500"/>
            <a:ext cx="107823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0">
                <a:solidFill>
                  <a:srgbClr val="183E36"/>
                </a:solidFill>
                <a:latin typeface="Arial"/>
                <a:ea typeface="Arial"/>
                <a:cs typeface="Arial"/>
              </a:defRPr>
            </a:pPr>
            <a:r>
              <a:rPr sz="3600" b="0">
                <a:solidFill>
                  <a:srgbClr val="183E36"/>
                </a:solidFill>
                <a:latin typeface="Arial"/>
                <a:ea typeface="Arial"/>
                <a:cs typeface="Arial"/>
              </a:rPr>
              <a:t>Financer un service qui reste accessible</a:t>
            </a:r>
          </a:p>
        </p:txBody>
      </p:sp>
      <p:sp>
        <p:nvSpPr>
          <p:cNvPr id="2" name="08">
            <a:extLst xmlns:a="http://schemas.openxmlformats.org/drawingml/2006/main">
              <a:ext uri="{FF2B5EF4-FFF2-40B4-BE49-F238E27FC236}">
                <a16:creationId xmlns:a16="http://schemas.microsoft.com/office/drawing/2014/main" id="{412BCBF2-4452-464D-B6D5-2D4C554A5571}"/>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64766A"/>
                </a:solidFill>
                <a:latin typeface="Arial"/>
                <a:ea typeface="Arial"/>
                <a:cs typeface="Arial"/>
              </a:defRPr>
            </a:pPr>
            <a:r>
              <a:rPr sz="1275" b="0">
                <a:solidFill>
                  <a:srgbClr val="64766A"/>
                </a:solidFill>
                <a:latin typeface="Arial"/>
                <a:ea typeface="Arial"/>
                <a:cs typeface="Arial"/>
              </a:rPr>
              <a:t>08</a:t>
            </a:r>
          </a:p>
        </p:txBody>
      </p:sp>
      <p:sp>
        <p:nvSpPr>
          <p:cNvPr id="3" name="Les revenus">
            <a:extLst xmlns:a="http://schemas.openxmlformats.org/drawingml/2006/main">
              <a:ext uri="{FF2B5EF4-FFF2-40B4-BE49-F238E27FC236}">
                <a16:creationId xmlns:a16="http://schemas.microsoft.com/office/drawing/2014/main" id="{5CDB77F2-C9D5-49E0-B05D-66E99BF751B3}"/>
              </a:ext>
            </a:extLst>
          </p:cNvPr>
          <p:cNvSpPr>
            <a:spLocks xmlns:a="http://schemas.openxmlformats.org/drawingml/2006/main" noGrp="1"/>
          </p:cNvSpPr>
          <p:nvPr/>
        </p:nvSpPr>
        <p:spPr>
          <a:xfrm xmlns:a="http://schemas.openxmlformats.org/drawingml/2006/main">
            <a:off x="742950" y="20764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1">
                <a:solidFill>
                  <a:srgbClr val="276653"/>
                </a:solidFill>
                <a:latin typeface="Arial"/>
                <a:ea typeface="Arial"/>
                <a:cs typeface="Arial"/>
              </a:defRPr>
            </a:pPr>
            <a:r>
              <a:rPr sz="2625" b="1">
                <a:solidFill>
                  <a:srgbClr val="276653"/>
                </a:solidFill>
                <a:latin typeface="Arial"/>
                <a:ea typeface="Arial"/>
                <a:cs typeface="Arial"/>
              </a:rPr>
              <a:t>Les revenus</a:t>
            </a:r>
          </a:p>
        </p:txBody>
      </p:sp>
      <p:sp>
        <p:nvSpPr>
          <p:cNvPr id="4" name="Abonnements Premium et Premium Plus&#10;Publicité">
            <a:extLst xmlns:a="http://schemas.openxmlformats.org/drawingml/2006/main">
              <a:ext uri="{FF2B5EF4-FFF2-40B4-BE49-F238E27FC236}">
                <a16:creationId xmlns:a16="http://schemas.microsoft.com/office/drawing/2014/main" id="{77040D77-2F01-4360-BB72-22412F8D2019}"/>
              </a:ext>
            </a:extLst>
          </p:cNvPr>
          <p:cNvSpPr>
            <a:spLocks xmlns:a="http://schemas.openxmlformats.org/drawingml/2006/main" noGrp="1"/>
          </p:cNvSpPr>
          <p:nvPr/>
        </p:nvSpPr>
        <p:spPr>
          <a:xfrm xmlns:a="http://schemas.openxmlformats.org/drawingml/2006/main">
            <a:off x="742950" y="2876550"/>
            <a:ext cx="4905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83E36"/>
                </a:solidFill>
                <a:latin typeface="Arial"/>
                <a:ea typeface="Arial"/>
                <a:cs typeface="Arial"/>
              </a:defRPr>
            </a:pPr>
            <a:r>
              <a:rPr sz="2175" b="0">
                <a:solidFill>
                  <a:srgbClr val="183E36"/>
                </a:solidFill>
                <a:latin typeface="Arial"/>
                <a:ea typeface="Arial"/>
                <a:cs typeface="Arial"/>
              </a:rPr>
              <a:t>Abonnements Premium et Premium Plus</a:t>
            </a:r>
          </a:p>
          <a:p xmlns:a="http://schemas.openxmlformats.org/drawingml/2006/main">
            <a:pPr>
              <a:defRPr sz="2175" b="0">
                <a:solidFill>
                  <a:srgbClr val="183E36"/>
                </a:solidFill>
                <a:latin typeface="Arial"/>
                <a:ea typeface="Arial"/>
                <a:cs typeface="Arial"/>
              </a:defRPr>
            </a:pPr>
            <a:r>
              <a:rPr sz="2175" b="0">
                <a:solidFill>
                  <a:srgbClr val="183E36"/>
                </a:solidFill>
                <a:latin typeface="Arial"/>
                <a:ea typeface="Arial"/>
                <a:cs typeface="Arial"/>
              </a:rPr>
              <a:t>Publicité sur l’offre gratuite</a:t>
            </a:r>
          </a:p>
        </p:txBody>
      </p:sp>
      <p:sp>
        <p:nvSpPr>
          <p:cNvPr id="5" name="Les coûts à couvrir">
            <a:extLst xmlns:a="http://schemas.openxmlformats.org/drawingml/2006/main">
              <a:ext uri="{FF2B5EF4-FFF2-40B4-BE49-F238E27FC236}">
                <a16:creationId xmlns:a16="http://schemas.microsoft.com/office/drawing/2014/main" id="{A52E8CFE-5CB3-439C-A729-14B8E9002B9E}"/>
              </a:ext>
            </a:extLst>
          </p:cNvPr>
          <p:cNvSpPr>
            <a:spLocks xmlns:a="http://schemas.openxmlformats.org/drawingml/2006/main" noGrp="1"/>
          </p:cNvSpPr>
          <p:nvPr/>
        </p:nvSpPr>
        <p:spPr>
          <a:xfrm xmlns:a="http://schemas.openxmlformats.org/drawingml/2006/main">
            <a:off x="6705600" y="20764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1">
                <a:solidFill>
                  <a:srgbClr val="276653"/>
                </a:solidFill>
                <a:latin typeface="Arial"/>
                <a:ea typeface="Arial"/>
                <a:cs typeface="Arial"/>
              </a:defRPr>
            </a:pPr>
            <a:r>
              <a:rPr sz="2625" b="1">
                <a:solidFill>
                  <a:srgbClr val="276653"/>
                </a:solidFill>
                <a:latin typeface="Arial"/>
                <a:ea typeface="Arial"/>
                <a:cs typeface="Arial"/>
              </a:rPr>
              <a:t>Les coûts à couvrir</a:t>
            </a:r>
          </a:p>
        </p:txBody>
      </p:sp>
      <p:sp>
        <p:nvSpPr>
          <p:cNvPr id="6" name="Usage de l’IA&#10;Temps des psychologues&#10;Modérati">
            <a:extLst xmlns:a="http://schemas.openxmlformats.org/drawingml/2006/main">
              <a:ext uri="{FF2B5EF4-FFF2-40B4-BE49-F238E27FC236}">
                <a16:creationId xmlns:a16="http://schemas.microsoft.com/office/drawing/2014/main" id="{9D064CDB-0BB0-4F2D-95FA-18002CCF982B}"/>
              </a:ext>
            </a:extLst>
          </p:cNvPr>
          <p:cNvSpPr>
            <a:spLocks xmlns:a="http://schemas.openxmlformats.org/drawingml/2006/main" noGrp="1"/>
          </p:cNvSpPr>
          <p:nvPr/>
        </p:nvSpPr>
        <p:spPr>
          <a:xfrm xmlns:a="http://schemas.openxmlformats.org/drawingml/2006/main">
            <a:off x="6705600" y="28765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83E36"/>
                </a:solidFill>
                <a:latin typeface="Arial"/>
                <a:ea typeface="Arial"/>
                <a:cs typeface="Arial"/>
              </a:defRPr>
            </a:pPr>
            <a:r>
              <a:rPr sz="2175" b="0">
                <a:solidFill>
                  <a:srgbClr val="183E36"/>
                </a:solidFill>
                <a:latin typeface="Arial"/>
                <a:ea typeface="Arial"/>
                <a:cs typeface="Arial"/>
              </a:rPr>
              <a:t>Usage de l’IA</a:t>
            </a:r>
          </a:p>
          <a:p xmlns:a="http://schemas.openxmlformats.org/drawingml/2006/main">
            <a:pPr>
              <a:defRPr sz="2175" b="0">
                <a:solidFill>
                  <a:srgbClr val="183E36"/>
                </a:solidFill>
                <a:latin typeface="Arial"/>
                <a:ea typeface="Arial"/>
                <a:cs typeface="Arial"/>
              </a:defRPr>
            </a:pPr>
            <a:r>
              <a:rPr sz="2175" b="0">
                <a:solidFill>
                  <a:srgbClr val="183E36"/>
                </a:solidFill>
                <a:latin typeface="Arial"/>
                <a:ea typeface="Arial"/>
                <a:cs typeface="Arial"/>
              </a:rPr>
              <a:t>Temps des psychologues</a:t>
            </a:r>
          </a:p>
          <a:p xmlns:a="http://schemas.openxmlformats.org/drawingml/2006/main">
            <a:pPr>
              <a:defRPr sz="2175" b="0">
                <a:solidFill>
                  <a:srgbClr val="183E36"/>
                </a:solidFill>
                <a:latin typeface="Arial"/>
                <a:ea typeface="Arial"/>
                <a:cs typeface="Arial"/>
              </a:defRPr>
            </a:pPr>
            <a:r>
              <a:rPr sz="2175" b="0">
                <a:solidFill>
                  <a:srgbClr val="183E36"/>
                </a:solidFill>
                <a:latin typeface="Arial"/>
                <a:ea typeface="Arial"/>
                <a:cs typeface="Arial"/>
              </a:rPr>
              <a:t>Modération et hébergement</a:t>
            </a:r>
          </a:p>
        </p:txBody>
      </p:sp>
      <p:sp>
        <p:nvSpPr>
          <p:cNvPr id="7" name="Le pilote doit mesurer le coût réel par utili">
            <a:extLst xmlns:a="http://schemas.openxmlformats.org/drawingml/2006/main">
              <a:ext uri="{FF2B5EF4-FFF2-40B4-BE49-F238E27FC236}">
                <a16:creationId xmlns:a16="http://schemas.microsoft.com/office/drawing/2014/main" id="{919F0C88-B20E-4EAC-8722-B12B430492ED}"/>
              </a:ext>
            </a:extLst>
          </p:cNvPr>
          <p:cNvSpPr>
            <a:spLocks xmlns:a="http://schemas.openxmlformats.org/drawingml/2006/main" noGrp="1"/>
          </p:cNvSpPr>
          <p:nvPr/>
        </p:nvSpPr>
        <p:spPr>
          <a:xfrm xmlns:a="http://schemas.openxmlformats.org/drawingml/2006/main">
            <a:off x="742950" y="5381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276653"/>
                </a:solidFill>
                <a:latin typeface="Arial"/>
                <a:ea typeface="Arial"/>
                <a:cs typeface="Arial"/>
              </a:defRPr>
            </a:pPr>
            <a:r>
              <a:rPr sz="2325" b="1">
                <a:solidFill>
                  <a:srgbClr val="276653"/>
                </a:solidFill>
                <a:latin typeface="Arial"/>
                <a:ea typeface="Arial"/>
                <a:cs typeface="Arial"/>
              </a:rPr>
              <a:t>Le pilote doit mesurer le coût réel par utilisateur actif.</a:t>
            </a:r>
          </a:p>
        </p:txBody>
      </p:sp>
    </p:spTree>
    <p:extLst>
      <p:ext uri="{BB962C8B-B14F-4D97-AF65-F5344CB8AC3E}">
        <p14:creationId xmlns:p14="http://schemas.microsoft.com/office/powerpoint/2010/main" val="1490740314"/>
      </p:ext>
    </p:extLst>
  </p:cSld>
</p:sld>
</file>

<file path=ppt/slides/slide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Prochaine étape : un pilote encadré">
            <a:extLst xmlns:a="http://schemas.openxmlformats.org/drawingml/2006/main">
              <a:ext uri="{FF2B5EF4-FFF2-40B4-BE49-F238E27FC236}">
                <a16:creationId xmlns:a16="http://schemas.microsoft.com/office/drawing/2014/main" id="{1DF9A62C-3AD8-4421-8FD2-D95E5F9B1A92}"/>
              </a:ext>
            </a:extLst>
          </p:cNvPr>
          <p:cNvSpPr>
            <a:spLocks xmlns:a="http://schemas.openxmlformats.org/drawingml/2006/main" noGrp="1"/>
          </p:cNvSpPr>
          <p:nvPr/>
        </p:nvSpPr>
        <p:spPr>
          <a:xfrm xmlns:a="http://schemas.openxmlformats.org/drawingml/2006/main">
            <a:off x="704850" y="571500"/>
            <a:ext cx="107823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0">
                <a:solidFill>
                  <a:srgbClr val="183E36"/>
                </a:solidFill>
                <a:latin typeface="Arial"/>
                <a:ea typeface="Arial"/>
                <a:cs typeface="Arial"/>
              </a:defRPr>
            </a:pPr>
            <a:r>
              <a:rPr sz="3600" b="0">
                <a:solidFill>
                  <a:srgbClr val="183E36"/>
                </a:solidFill>
                <a:latin typeface="Arial"/>
                <a:ea typeface="Arial"/>
                <a:cs typeface="Arial"/>
              </a:rPr>
              <a:t>Prochaine étape : un pilote encadré</a:t>
            </a:r>
          </a:p>
        </p:txBody>
      </p:sp>
      <p:sp>
        <p:nvSpPr>
          <p:cNvPr id="2" name="09">
            <a:extLst xmlns:a="http://schemas.openxmlformats.org/drawingml/2006/main">
              <a:ext uri="{FF2B5EF4-FFF2-40B4-BE49-F238E27FC236}">
                <a16:creationId xmlns:a16="http://schemas.microsoft.com/office/drawing/2014/main" id="{882F4E53-CFAE-40B9-BCD5-22F10E9A06F3}"/>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64766A"/>
                </a:solidFill>
                <a:latin typeface="Arial"/>
                <a:ea typeface="Arial"/>
                <a:cs typeface="Arial"/>
              </a:defRPr>
            </a:pPr>
            <a:r>
              <a:rPr sz="1275" b="0">
                <a:solidFill>
                  <a:srgbClr val="64766A"/>
                </a:solidFill>
                <a:latin typeface="Arial"/>
                <a:ea typeface="Arial"/>
                <a:cs typeface="Arial"/>
              </a:rPr>
              <a:t>09</a:t>
            </a:r>
          </a:p>
        </p:txBody>
      </p:sp>
      <p:sp>
        <p:nvSpPr>
          <p:cNvPr id="3" name="Le prototype aujourd’hui">
            <a:extLst xmlns:a="http://schemas.openxmlformats.org/drawingml/2006/main">
              <a:ext uri="{FF2B5EF4-FFF2-40B4-BE49-F238E27FC236}">
                <a16:creationId xmlns:a16="http://schemas.microsoft.com/office/drawing/2014/main" id="{CF85B54B-0E0B-4F3C-B5B0-C96089E6D373}"/>
              </a:ext>
            </a:extLst>
          </p:cNvPr>
          <p:cNvSpPr>
            <a:spLocks xmlns:a="http://schemas.openxmlformats.org/drawingml/2006/main" noGrp="1"/>
          </p:cNvSpPr>
          <p:nvPr/>
        </p:nvSpPr>
        <p:spPr>
          <a:xfrm xmlns:a="http://schemas.openxmlformats.org/drawingml/2006/main">
            <a:off x="742950" y="20193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276653"/>
                </a:solidFill>
                <a:latin typeface="Arial"/>
                <a:ea typeface="Arial"/>
                <a:cs typeface="Arial"/>
              </a:defRPr>
            </a:pPr>
            <a:r>
              <a:rPr sz="2550" b="1">
                <a:solidFill>
                  <a:srgbClr val="276653"/>
                </a:solidFill>
                <a:latin typeface="Arial"/>
                <a:ea typeface="Arial"/>
                <a:cs typeface="Arial"/>
              </a:rPr>
              <a:t>Le prototype aujourd’hui</a:t>
            </a:r>
          </a:p>
        </p:txBody>
      </p:sp>
      <p:sp>
        <p:nvSpPr>
          <p:cNvPr id="4" name="Questionnaire et accueil&#10;Conversation IA et e">
            <a:extLst xmlns:a="http://schemas.openxmlformats.org/drawingml/2006/main">
              <a:ext uri="{FF2B5EF4-FFF2-40B4-BE49-F238E27FC236}">
                <a16:creationId xmlns:a16="http://schemas.microsoft.com/office/drawing/2014/main" id="{955E31FF-F2FD-444E-B504-CC0BA1900F86}"/>
              </a:ext>
            </a:extLst>
          </p:cNvPr>
          <p:cNvSpPr>
            <a:spLocks xmlns:a="http://schemas.openxmlformats.org/drawingml/2006/main" noGrp="1"/>
          </p:cNvSpPr>
          <p:nvPr/>
        </p:nvSpPr>
        <p:spPr>
          <a:xfrm xmlns:a="http://schemas.openxmlformats.org/drawingml/2006/main">
            <a:off x="742950" y="2857500"/>
            <a:ext cx="5143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83E36"/>
                </a:solidFill>
                <a:latin typeface="Arial"/>
                <a:ea typeface="Arial"/>
                <a:cs typeface="Arial"/>
              </a:defRPr>
            </a:pPr>
            <a:r>
              <a:rPr sz="2100" b="0">
                <a:solidFill>
                  <a:srgbClr val="183E36"/>
                </a:solidFill>
                <a:latin typeface="Arial"/>
                <a:ea typeface="Arial"/>
                <a:cs typeface="Arial"/>
              </a:rPr>
              <a:t>Questionnaire et accueil</a:t>
            </a:r>
          </a:p>
          <a:p xmlns:a="http://schemas.openxmlformats.org/drawingml/2006/main">
            <a:pPr>
              <a:defRPr sz="2100" b="0">
                <a:solidFill>
                  <a:srgbClr val="183E36"/>
                </a:solidFill>
                <a:latin typeface="Arial"/>
                <a:ea typeface="Arial"/>
                <a:cs typeface="Arial"/>
              </a:defRPr>
            </a:pPr>
            <a:r>
              <a:rPr sz="2100" b="0">
                <a:solidFill>
                  <a:srgbClr val="183E36"/>
                </a:solidFill>
                <a:latin typeface="Arial"/>
                <a:ea typeface="Arial"/>
                <a:cs typeface="Arial"/>
              </a:rPr>
              <a:t>Conversation IA et exercices</a:t>
            </a:r>
          </a:p>
          <a:p xmlns:a="http://schemas.openxmlformats.org/drawingml/2006/main">
            <a:pPr>
              <a:defRPr sz="2100" b="0">
                <a:solidFill>
                  <a:srgbClr val="183E36"/>
                </a:solidFill>
                <a:latin typeface="Arial"/>
                <a:ea typeface="Arial"/>
                <a:cs typeface="Arial"/>
              </a:defRPr>
            </a:pPr>
            <a:r>
              <a:rPr sz="2100" b="0">
                <a:solidFill>
                  <a:srgbClr val="183E36"/>
                </a:solidFill>
                <a:latin typeface="Arial"/>
                <a:ea typeface="Arial"/>
                <a:cs typeface="Arial"/>
              </a:rPr>
              <a:t>Forum et demandes de contact</a:t>
            </a:r>
          </a:p>
        </p:txBody>
      </p:sp>
      <p:sp>
        <p:nvSpPr>
          <p:cNvPr id="5" name="Les développements à venir">
            <a:extLst xmlns:a="http://schemas.openxmlformats.org/drawingml/2006/main">
              <a:ext uri="{FF2B5EF4-FFF2-40B4-BE49-F238E27FC236}">
                <a16:creationId xmlns:a16="http://schemas.microsoft.com/office/drawing/2014/main" id="{2D3520AA-21B8-4303-AFA4-3D28D0897484}"/>
              </a:ext>
            </a:extLst>
          </p:cNvPr>
          <p:cNvSpPr>
            <a:spLocks xmlns:a="http://schemas.openxmlformats.org/drawingml/2006/main" noGrp="1"/>
          </p:cNvSpPr>
          <p:nvPr/>
        </p:nvSpPr>
        <p:spPr>
          <a:xfrm xmlns:a="http://schemas.openxmlformats.org/drawingml/2006/main">
            <a:off x="6705600" y="201930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276653"/>
                </a:solidFill>
                <a:latin typeface="Arial"/>
                <a:ea typeface="Arial"/>
                <a:cs typeface="Arial"/>
              </a:defRPr>
            </a:pPr>
            <a:r>
              <a:rPr sz="2550" b="1">
                <a:solidFill>
                  <a:srgbClr val="276653"/>
                </a:solidFill>
                <a:latin typeface="Arial"/>
                <a:ea typeface="Arial"/>
                <a:cs typeface="Arial"/>
              </a:rPr>
              <a:t>Les développements à venir</a:t>
            </a:r>
          </a:p>
        </p:txBody>
      </p:sp>
      <p:sp>
        <p:nvSpPr>
          <p:cNvPr id="6" name="Appels et crédits psychologues&#10;Paiement, publ">
            <a:extLst xmlns:a="http://schemas.openxmlformats.org/drawingml/2006/main">
              <a:ext uri="{FF2B5EF4-FFF2-40B4-BE49-F238E27FC236}">
                <a16:creationId xmlns:a16="http://schemas.microsoft.com/office/drawing/2014/main" id="{0E1FB73F-9CB9-4946-85D4-2A397212ED9D}"/>
              </a:ext>
            </a:extLst>
          </p:cNvPr>
          <p:cNvSpPr>
            <a:spLocks xmlns:a="http://schemas.openxmlformats.org/drawingml/2006/main" noGrp="1"/>
          </p:cNvSpPr>
          <p:nvPr/>
        </p:nvSpPr>
        <p:spPr>
          <a:xfrm xmlns:a="http://schemas.openxmlformats.org/drawingml/2006/main">
            <a:off x="6705600" y="3000375"/>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83E36"/>
                </a:solidFill>
                <a:latin typeface="Arial"/>
                <a:ea typeface="Arial"/>
                <a:cs typeface="Arial"/>
              </a:defRPr>
            </a:pPr>
            <a:r>
              <a:rPr sz="2100" b="0">
                <a:solidFill>
                  <a:srgbClr val="183E36"/>
                </a:solidFill>
                <a:latin typeface="Arial"/>
                <a:ea typeface="Arial"/>
                <a:cs typeface="Arial"/>
              </a:rPr>
              <a:t>Appels et crédits psychologues</a:t>
            </a:r>
          </a:p>
          <a:p xmlns:a="http://schemas.openxmlformats.org/drawingml/2006/main">
            <a:pPr>
              <a:defRPr sz="2100" b="0">
                <a:solidFill>
                  <a:srgbClr val="183E36"/>
                </a:solidFill>
                <a:latin typeface="Arial"/>
                <a:ea typeface="Arial"/>
                <a:cs typeface="Arial"/>
              </a:defRPr>
            </a:pPr>
            <a:r>
              <a:rPr sz="2100" b="0">
                <a:solidFill>
                  <a:srgbClr val="183E36"/>
                </a:solidFill>
                <a:latin typeface="Arial"/>
                <a:ea typeface="Arial"/>
                <a:cs typeface="Arial"/>
              </a:rPr>
              <a:t>Paiement, publicité et priorité</a:t>
            </a:r>
          </a:p>
          <a:p xmlns:a="http://schemas.openxmlformats.org/drawingml/2006/main">
            <a:pPr>
              <a:defRPr sz="2100" b="0">
                <a:solidFill>
                  <a:srgbClr val="183E36"/>
                </a:solidFill>
                <a:latin typeface="Arial"/>
                <a:ea typeface="Arial"/>
                <a:cs typeface="Arial"/>
              </a:defRPr>
            </a:pPr>
            <a:r>
              <a:rPr sz="2100" b="0">
                <a:solidFill>
                  <a:srgbClr val="183E36"/>
                </a:solidFill>
                <a:latin typeface="Arial"/>
                <a:ea typeface="Arial"/>
                <a:cs typeface="Arial"/>
              </a:rPr>
              <a:t>Mode hors ligne complet</a:t>
            </a:r>
          </a:p>
        </p:txBody>
      </p:sp>
      <p:sp>
        <p:nvSpPr>
          <p:cNvPr id="7" name="Nous cherchons des professionnels partenaires">
            <a:extLst xmlns:a="http://schemas.openxmlformats.org/drawingml/2006/main">
              <a:ext uri="{FF2B5EF4-FFF2-40B4-BE49-F238E27FC236}">
                <a16:creationId xmlns:a16="http://schemas.microsoft.com/office/drawing/2014/main" id="{525D2E8F-AA96-47CF-AA0F-3B8187F75626}"/>
              </a:ext>
            </a:extLst>
          </p:cNvPr>
          <p:cNvSpPr>
            <a:spLocks xmlns:a="http://schemas.openxmlformats.org/drawingml/2006/main" noGrp="1"/>
          </p:cNvSpPr>
          <p:nvPr/>
        </p:nvSpPr>
        <p:spPr>
          <a:xfrm xmlns:a="http://schemas.openxmlformats.org/drawingml/2006/main">
            <a:off x="742950" y="50482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276653"/>
                </a:solidFill>
                <a:latin typeface="Arial"/>
                <a:ea typeface="Arial"/>
                <a:cs typeface="Arial"/>
              </a:defRPr>
            </a:pPr>
            <a:r>
              <a:rPr sz="2400" b="1">
                <a:solidFill>
                  <a:srgbClr val="276653"/>
                </a:solidFill>
                <a:latin typeface="Arial"/>
                <a:ea typeface="Arial"/>
                <a:cs typeface="Arial"/>
              </a:rPr>
              <a:t>Nous cherchons des professionnels partenaires</a:t>
            </a:r>
          </a:p>
          <a:p xmlns:a="http://schemas.openxmlformats.org/drawingml/2006/main">
            <a:pPr>
              <a:defRPr sz="2400" b="1">
                <a:solidFill>
                  <a:srgbClr val="276653"/>
                </a:solidFill>
                <a:latin typeface="Arial"/>
                <a:ea typeface="Arial"/>
                <a:cs typeface="Arial"/>
              </a:defRPr>
            </a:pPr>
            <a:r>
              <a:rPr sz="2400" b="1">
                <a:solidFill>
                  <a:srgbClr val="276653"/>
                </a:solidFill>
                <a:latin typeface="Arial"/>
                <a:ea typeface="Arial"/>
                <a:cs typeface="Arial"/>
              </a:rPr>
              <a:t>et des premiers utilisateurs pour tester le parcours.</a:t>
            </a:r>
          </a:p>
        </p:txBody>
      </p:sp>
      <p:sp>
        <p:nvSpPr>
          <p:cNvPr id="8" name="Un outil de soutien au bien-être. Les soins r">
            <a:extLst xmlns:a="http://schemas.openxmlformats.org/drawingml/2006/main">
              <a:ext uri="{FF2B5EF4-FFF2-40B4-BE49-F238E27FC236}">
                <a16:creationId xmlns:a16="http://schemas.microsoft.com/office/drawing/2014/main" id="{9A190B25-7ECB-40C7-93AA-56C6283DDFBE}"/>
              </a:ext>
            </a:extLst>
          </p:cNvPr>
          <p:cNvSpPr>
            <a:spLocks xmlns:a="http://schemas.openxmlformats.org/drawingml/2006/main" noGrp="1"/>
          </p:cNvSpPr>
          <p:nvPr/>
        </p:nvSpPr>
        <p:spPr>
          <a:xfrm xmlns:a="http://schemas.openxmlformats.org/drawingml/2006/main">
            <a:off x="742950" y="61626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64766A"/>
                </a:solidFill>
                <a:latin typeface="Arial"/>
                <a:ea typeface="Arial"/>
                <a:cs typeface="Arial"/>
              </a:defRPr>
            </a:pPr>
            <a:r>
              <a:rPr sz="1500" b="0">
                <a:solidFill>
                  <a:srgbClr val="64766A"/>
                </a:solidFill>
                <a:latin typeface="Arial"/>
                <a:ea typeface="Arial"/>
                <a:cs typeface="Arial"/>
              </a:rPr>
              <a:t>Un outil de soutien au bien-être. Les soins relèvent des professionnels.</a:t>
            </a:r>
          </a:p>
        </p:txBody>
      </p:sp>
    </p:spTree>
    <p:extLst>
      <p:ext uri="{BB962C8B-B14F-4D97-AF65-F5344CB8AC3E}">
        <p14:creationId xmlns:p14="http://schemas.microsoft.com/office/powerpoint/2010/main" val="1288897373"/>
      </p:ext>
    </p:extLst>
  </p:cSld>
</p:sld>
</file>

<file path=ppt/slides/slide10.xml><?xml version="1.0" encoding="utf-8"?>
<p:sld xmlns:p="http://schemas.openxmlformats.org/presentationml/2006/main">
  <p:cSld>
    <p:bg>
      <p:bgPr>
        <a:solidFill xmlns:a="http://schemas.openxmlformats.org/drawingml/2006/main">
          <a:srgbClr val="183E36"/>
        </a:solidFill>
      </p:bgPr>
    </p:bg>
    <p:spTree>
      <p:nvGrpSpPr>
        <p:cNvPr id="1" name=""/>
        <p:cNvGrpSpPr/>
        <p:nvPr/>
      </p:nvGrpSpPr>
      <p:grpSpPr>
        <a:xfrm xmlns:a="http://schemas.openxmlformats.org/drawingml/2006/main"/>
      </p:grpSpPr>
      <p:sp>
        <p:nvSpPr>
          <p:cNvPr id="6" name="10">
            <a:extLst xmlns:a="http://schemas.openxmlformats.org/drawingml/2006/main">
              <a:ext uri="{FF2B5EF4-FFF2-40B4-BE49-F238E27FC236}">
                <a16:creationId xmlns:a16="http://schemas.microsoft.com/office/drawing/2014/main" id="{E5FB2AAB-B63D-45D7-B08D-FAF3A34C22DD}"/>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B9CDBF"/>
                </a:solidFill>
                <a:latin typeface="Arial"/>
                <a:ea typeface="Arial"/>
                <a:cs typeface="Arial"/>
              </a:defRPr>
            </a:pPr>
            <a:r>
              <a:rPr sz="1275" b="0">
                <a:solidFill>
                  <a:srgbClr val="B9CDBF"/>
                </a:solidFill>
                <a:latin typeface="Arial"/>
                <a:ea typeface="Arial"/>
                <a:cs typeface="Arial"/>
              </a:rPr>
              <a:t>10</a:t>
            </a:r>
          </a:p>
        </p:txBody>
      </p:sp>
      <p:sp>
        <p:nvSpPr>
          <p:cNvPr id="2" name="Vos questions">
            <a:extLst xmlns:a="http://schemas.openxmlformats.org/drawingml/2006/main">
              <a:ext uri="{FF2B5EF4-FFF2-40B4-BE49-F238E27FC236}">
                <a16:creationId xmlns:a16="http://schemas.microsoft.com/office/drawing/2014/main" id="{E1405243-348D-4CF0-AD8F-DEEBBBDF1043}"/>
              </a:ext>
            </a:extLst>
          </p:cNvPr>
          <p:cNvSpPr>
            <a:spLocks xmlns:a="http://schemas.openxmlformats.org/drawingml/2006/main" noGrp="1"/>
          </p:cNvSpPr>
          <p:nvPr/>
        </p:nvSpPr>
        <p:spPr>
          <a:xfrm xmlns:a="http://schemas.openxmlformats.org/drawingml/2006/main">
            <a:off x="742950" y="138112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000" b="1">
                <a:solidFill>
                  <a:srgbClr val="F8F6F0"/>
                </a:solidFill>
                <a:latin typeface="Arial"/>
                <a:ea typeface="Arial"/>
                <a:cs typeface="Arial"/>
              </a:defRPr>
            </a:pPr>
            <a:r>
              <a:rPr sz="6000" b="1">
                <a:solidFill>
                  <a:srgbClr val="F8F6F0"/>
                </a:solidFill>
                <a:latin typeface="Arial"/>
                <a:ea typeface="Arial"/>
                <a:cs typeface="Arial"/>
              </a:rPr>
              <a:t>Vos questions</a:t>
            </a:r>
          </a:p>
        </p:txBody>
      </p:sp>
      <p:sp>
        <p:nvSpPr>
          <p:cNvPr id="3" name="3 minutes d’échange">
            <a:extLst xmlns:a="http://schemas.openxmlformats.org/drawingml/2006/main">
              <a:ext uri="{FF2B5EF4-FFF2-40B4-BE49-F238E27FC236}">
                <a16:creationId xmlns:a16="http://schemas.microsoft.com/office/drawing/2014/main" id="{62B93190-FD22-45AE-B9EB-B930E0670C02}"/>
              </a:ext>
            </a:extLst>
          </p:cNvPr>
          <p:cNvSpPr>
            <a:spLocks xmlns:a="http://schemas.openxmlformats.org/drawingml/2006/main" noGrp="1"/>
          </p:cNvSpPr>
          <p:nvPr/>
        </p:nvSpPr>
        <p:spPr>
          <a:xfrm xmlns:a="http://schemas.openxmlformats.org/drawingml/2006/main">
            <a:off x="762000" y="2971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0">
                <a:solidFill>
                  <a:srgbClr val="C8D8CC"/>
                </a:solidFill>
                <a:latin typeface="Arial"/>
                <a:ea typeface="Arial"/>
                <a:cs typeface="Arial"/>
              </a:defRPr>
            </a:pPr>
            <a:r>
              <a:rPr sz="2625" b="0">
                <a:solidFill>
                  <a:srgbClr val="C8D8CC"/>
                </a:solidFill>
                <a:latin typeface="Arial"/>
                <a:ea typeface="Arial"/>
                <a:cs typeface="Arial"/>
              </a:rPr>
              <a:t>3 minutes d’échange</a:t>
            </a:r>
          </a:p>
        </p:txBody>
      </p:sp>
      <p:sp>
        <p:nvSpPr>
          <p:cNvPr id="4" name="MYTHENENA">
            <a:extLst xmlns:a="http://schemas.openxmlformats.org/drawingml/2006/main">
              <a:ext uri="{FF2B5EF4-FFF2-40B4-BE49-F238E27FC236}">
                <a16:creationId xmlns:a16="http://schemas.microsoft.com/office/drawing/2014/main" id="{15FF7042-739B-4A20-B1B3-2D1C7583B64E}"/>
              </a:ext>
            </a:extLst>
          </p:cNvPr>
          <p:cNvSpPr>
            <a:spLocks xmlns:a="http://schemas.openxmlformats.org/drawingml/2006/main" noGrp="1"/>
          </p:cNvSpPr>
          <p:nvPr/>
        </p:nvSpPr>
        <p:spPr>
          <a:xfrm xmlns:a="http://schemas.openxmlformats.org/drawingml/2006/main">
            <a:off x="762000" y="47244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1">
                <a:solidFill>
                  <a:srgbClr val="F8F6F0"/>
                </a:solidFill>
                <a:latin typeface="Arial"/>
                <a:ea typeface="Arial"/>
                <a:cs typeface="Arial"/>
              </a:defRPr>
            </a:pPr>
            <a:r>
              <a:rPr sz="2625" b="1">
                <a:solidFill>
                  <a:srgbClr val="F8F6F0"/>
                </a:solidFill>
                <a:latin typeface="Arial"/>
                <a:ea typeface="Arial"/>
                <a:cs typeface="Arial"/>
              </a:rPr>
              <a:t>MYTHENENA</a:t>
            </a:r>
          </a:p>
        </p:txBody>
      </p:sp>
      <p:sp>
        <p:nvSpPr>
          <p:cNvPr id="5" name="Maharavo, Tonintsoa, Irinah, Noel Pricio">
            <a:extLst xmlns:a="http://schemas.openxmlformats.org/drawingml/2006/main">
              <a:ext uri="{FF2B5EF4-FFF2-40B4-BE49-F238E27FC236}">
                <a16:creationId xmlns:a16="http://schemas.microsoft.com/office/drawing/2014/main" id="{DCFEE6C2-5812-45E8-B99E-807521AF45CC}"/>
              </a:ext>
            </a:extLst>
          </p:cNvPr>
          <p:cNvSpPr>
            <a:spLocks xmlns:a="http://schemas.openxmlformats.org/drawingml/2006/main" noGrp="1"/>
          </p:cNvSpPr>
          <p:nvPr/>
        </p:nvSpPr>
        <p:spPr>
          <a:xfrm xmlns:a="http://schemas.openxmlformats.org/drawingml/2006/main">
            <a:off x="762000" y="55530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C8D8CC"/>
                </a:solidFill>
                <a:latin typeface="Arial"/>
                <a:ea typeface="Arial"/>
                <a:cs typeface="Arial"/>
              </a:defRPr>
            </a:pPr>
            <a:r>
              <a:rPr sz="1950" b="0">
                <a:solidFill>
                  <a:srgbClr val="C8D8CC"/>
                </a:solidFill>
                <a:latin typeface="Arial"/>
                <a:ea typeface="Arial"/>
                <a:cs typeface="Arial"/>
              </a:rPr>
              <a:t>Maharavo, Tonintsoa, Irinah, Noel Pricio</a:t>
            </a:r>
          </a:p>
        </p:txBody>
      </p:sp>
    </p:spTree>
    <p:extLst>
      <p:ext uri="{BB962C8B-B14F-4D97-AF65-F5344CB8AC3E}">
        <p14:creationId xmlns:p14="http://schemas.microsoft.com/office/powerpoint/2010/main" val="14724834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2026-09-26T12:54:53.3900000Z</dcterms:created>
  <dcterms:modified xsi:type="dcterms:W3CDTF">2026-09-26T12:54:53.3900000Z</dcterms:modified>
</coreProperties>
</file>